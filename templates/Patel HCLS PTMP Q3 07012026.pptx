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302" r:id="rId5"/>
    <p:sldId id="30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530"/>
  </p:normalViewPr>
  <p:slideViewPr>
    <p:cSldViewPr snapToGrid="0">
      <p:cViewPr varScale="1">
        <p:scale>
          <a:sx n="127" d="100"/>
          <a:sy n="127" d="100"/>
        </p:scale>
        <p:origin x="20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3A415-D8C1-416D-B7B7-C9B6793985CD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B89EDB-18B1-4156-891D-00B09EE829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49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8E626-D09D-A1E0-5622-688BC66F7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C2140-6FBC-27E9-ACA0-F6BE5C405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A38DA-E312-B290-1393-282BE036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DB05-9E09-5949-9DCE-C4EC81F409FA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6D45E-4A1C-A3E9-AAA5-A8600613C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A7262-0E55-46FD-3AD4-FBA50E77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1366-520E-454C-939E-9DFFF006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11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BBCA3-D7E2-6750-3557-36507F46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28EEE-5738-F281-7B9C-C5B7AF7DC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0AE72-B63E-FBE8-14E7-DCCB243A6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DB05-9E09-5949-9DCE-C4EC81F409FA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AEEE1-A75E-733E-9D95-E48D405F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D9202-B993-31ED-2553-65CC1EEF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1366-520E-454C-939E-9DFFF006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2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DEF6-C51D-A386-8A6D-62441BF0E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CCEC9-EDAB-C743-B96F-4E43EA06B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226ED-62E5-3430-A962-952A6808D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DB05-9E09-5949-9DCE-C4EC81F409FA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286A5-BB10-994F-B703-1404D738E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BE150-FF65-C206-64E9-FE86DFEE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1366-520E-454C-939E-9DFFF006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55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8F4CD-895B-EC83-2B1D-FF98C0F40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0F10D-28F0-FB4B-247A-68498EEC5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4BD6D-B357-809C-7A61-8F50BE512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86514-E9F6-9C44-27EA-0D16C763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DB05-9E09-5949-9DCE-C4EC81F409FA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7F566-6C80-0A85-E4F9-717F976B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18885-A62F-1461-7162-33471CE70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1366-520E-454C-939E-9DFFF006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00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77A17-7227-8E69-8BC9-448DFBE2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A72C0-8B2D-6622-A574-D3C85B23F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74EA2-73E1-A208-3461-756C400A7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A96C6F-AD40-8F38-3902-2565EE9D9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676F11-A333-56B6-E48F-64AED531DF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C77D1A-FAF6-554D-C8CB-EFC269B0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DB05-9E09-5949-9DCE-C4EC81F409FA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2B4422-3F3B-BB47-9A34-8199BE9DB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299A86-40B4-872A-E4B7-093852B2C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1366-520E-454C-939E-9DFFF006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12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902D-535D-3EFB-B639-E6DA5F1AF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42978-5032-DD58-E6A0-BC54C4D1C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DB05-9E09-5949-9DCE-C4EC81F409FA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8B5DA-32D0-D80E-E735-A49B2251B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8C852E-A97E-D45E-92FD-3B75A635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1366-520E-454C-939E-9DFFF006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72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8B113A-9B09-31AA-FA7E-BCEF627F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DB05-9E09-5949-9DCE-C4EC81F409FA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3D9864-F8B5-C031-0BC3-067D73132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D7695-45D0-C32E-A669-4B8AE4A10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1366-520E-454C-939E-9DFFF006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45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CF8C8-2721-27D8-99B6-33E834628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5D673-4FA3-1A94-41D4-02E564962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7CC83-F254-18D4-C2BC-443EEA1A9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21007-3657-9AF9-4782-CC91CFBF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DB05-9E09-5949-9DCE-C4EC81F409FA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DC6E5-DB50-BB28-0F17-ED7938B9D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FC51D-0405-58E3-7673-6D65053C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1366-520E-454C-939E-9DFFF006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4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5A677-17DC-6EF9-9909-71CEAD173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E240C-C72B-00E5-A094-C7BF57ED4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9B5E0-65A0-2FA9-6164-06A9156D7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21920-3297-5B13-C562-8EF2F8F79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DB05-9E09-5949-9DCE-C4EC81F409FA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1F963-DCEB-FEEC-996E-7916CD3DB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D7B1F-173D-034A-1737-7E3045CEF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1366-520E-454C-939E-9DFFF006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6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BBEA-608B-B213-9899-7BFE15D0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28C04-4942-F0E0-AA51-1F7AD6BEB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E017E-3F98-40D2-22AA-A2823113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DB05-9E09-5949-9DCE-C4EC81F409FA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A2D11-F8C4-4A8B-583F-A2847BE2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F3EB5-6907-33F3-8287-476F85818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1366-520E-454C-939E-9DFFF006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3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99B5FF-49E1-7F7D-020F-B141558D6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486B8-D8B8-DF62-C6B7-5AD401B73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33220-9921-BB5F-8218-7806B8DAB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DB05-9E09-5949-9DCE-C4EC81F409FA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82D03-2269-618E-0E80-884A5CBD0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5BC76-F929-C85F-6D9A-C7AFC894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71366-520E-454C-939E-9DFFF006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9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255B3-0F20-57B7-3155-4ACAD7D5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D5DED-BBAC-A297-9A1C-FD67BDD04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62C74-3AE3-C072-227E-07C48BD98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F3DB05-9E09-5949-9DCE-C4EC81F409FA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F0558-7D3C-A867-5325-B44272E95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26D7D-8A84-E088-6D89-15D3833A1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371366-520E-454C-939E-9DFFF006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9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83749-B878-4ABE-C23E-E36703A6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4C339-C2A2-04D7-D402-92A3B8E90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1" y="812536"/>
            <a:ext cx="10515600" cy="404896"/>
          </a:xfrm>
        </p:spPr>
        <p:txBody>
          <a:bodyPr>
            <a:noAutofit/>
          </a:bodyPr>
          <a:lstStyle/>
          <a:p>
            <a:r>
              <a:rPr lang="en-US" sz="2400" b="1" dirty="0"/>
              <a:t>Patel HCLS 3Q26</a:t>
            </a:r>
            <a:br>
              <a:rPr lang="en-US" sz="2400" b="1" dirty="0"/>
            </a:br>
            <a:r>
              <a:rPr lang="en-US" sz="2400" b="1" dirty="0"/>
              <a:t>Trans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837C9-A78E-89A3-B572-5AB147240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71" y="4185083"/>
            <a:ext cx="5479882" cy="2672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b="1" dirty="0"/>
              <a:t>Action Plan </a:t>
            </a:r>
          </a:p>
          <a:p>
            <a:pPr marL="0" indent="0">
              <a:buNone/>
            </a:pPr>
            <a:r>
              <a:rPr lang="en-US" sz="1100" dirty="0"/>
              <a:t>2H Planning sessions (resets by account)</a:t>
            </a:r>
          </a:p>
          <a:p>
            <a:pPr marL="0" indent="0">
              <a:buNone/>
            </a:pPr>
            <a:r>
              <a:rPr lang="en-US" sz="1100" dirty="0"/>
              <a:t>Q3 QBRs in Mid July (remote)</a:t>
            </a:r>
          </a:p>
          <a:p>
            <a:pPr marL="0" indent="0">
              <a:buNone/>
            </a:pPr>
            <a:r>
              <a:rPr lang="en-US" sz="1100" dirty="0"/>
              <a:t>Tech Days for each client (Frame off of Highmark and Horizon)</a:t>
            </a:r>
          </a:p>
          <a:p>
            <a:pPr marL="0" indent="0">
              <a:buNone/>
            </a:pPr>
            <a:r>
              <a:rPr lang="en-US" sz="1100" dirty="0"/>
              <a:t>Continue work with Deloitte and Accenture teams</a:t>
            </a:r>
          </a:p>
          <a:p>
            <a:pPr marL="0" indent="0">
              <a:buNone/>
            </a:pPr>
            <a:r>
              <a:rPr lang="en-US" sz="1100" dirty="0"/>
              <a:t>Activation of co-selling with Microsoft (July follow-up with MS, HLS Exec)</a:t>
            </a:r>
          </a:p>
          <a:p>
            <a:pPr marL="0" indent="0">
              <a:buNone/>
            </a:pPr>
            <a:r>
              <a:rPr lang="en-US" sz="1100" dirty="0"/>
              <a:t>Focus on Bob-a-thons by account</a:t>
            </a:r>
          </a:p>
          <a:p>
            <a:pPr marL="0" indent="0">
              <a:buNone/>
            </a:pPr>
            <a:r>
              <a:rPr lang="en-US" sz="1100" dirty="0"/>
              <a:t>No immediate help needed, but expect specifics as we work through Q3 deal progression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7AD74D-639D-C336-FA13-AF84AE94A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098321"/>
              </p:ext>
            </p:extLst>
          </p:nvPr>
        </p:nvGraphicFramePr>
        <p:xfrm>
          <a:off x="3591573" y="215536"/>
          <a:ext cx="7274078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292">
                  <a:extLst>
                    <a:ext uri="{9D8B030D-6E8A-4147-A177-3AD203B41FA5}">
                      <a16:colId xmlns:a16="http://schemas.microsoft.com/office/drawing/2014/main" val="3969815714"/>
                    </a:ext>
                  </a:extLst>
                </a:gridCol>
                <a:gridCol w="1436915">
                  <a:extLst>
                    <a:ext uri="{9D8B030D-6E8A-4147-A177-3AD203B41FA5}">
                      <a16:colId xmlns:a16="http://schemas.microsoft.com/office/drawing/2014/main" val="3478867815"/>
                    </a:ext>
                  </a:extLst>
                </a:gridCol>
                <a:gridCol w="1358537">
                  <a:extLst>
                    <a:ext uri="{9D8B030D-6E8A-4147-A177-3AD203B41FA5}">
                      <a16:colId xmlns:a16="http://schemas.microsoft.com/office/drawing/2014/main" val="420600859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2332315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53010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3Q 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3Q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50519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r>
                        <a:rPr lang="en-US" dirty="0"/>
                        <a:t>$33.2M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$15.9M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$17.3M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$26.1M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$112.3M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001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1F1F406-1D08-E3FF-BCB6-75B5FB9E25A1}"/>
              </a:ext>
            </a:extLst>
          </p:cNvPr>
          <p:cNvSpPr txBox="1"/>
          <p:nvPr/>
        </p:nvSpPr>
        <p:spPr>
          <a:xfrm>
            <a:off x="350051" y="1014984"/>
            <a:ext cx="4801314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Deals In Call &gt; $500K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BCBSSC	ELA		$8.2M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Florida Blue	Power 11		$2M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Humana    	</a:t>
            </a:r>
            <a:r>
              <a:rPr lang="en-US" sz="1600" dirty="0" err="1"/>
              <a:t>Spect</a:t>
            </a:r>
            <a:r>
              <a:rPr lang="en-US" sz="1600" dirty="0"/>
              <a:t> Protect       	$1.1M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Humana     	Confluent		$1M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Highmark      	z17 (Penalty Box)    	$650K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Highmark	Fusion (Phase 2)	$640K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UPMC		Power		$600K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Labcorp</a:t>
            </a:r>
            <a:r>
              <a:rPr lang="en-US" sz="1600" dirty="0"/>
              <a:t>	</a:t>
            </a:r>
            <a:r>
              <a:rPr lang="en-US" sz="1600" dirty="0" err="1"/>
              <a:t>Intellimagic</a:t>
            </a:r>
            <a:r>
              <a:rPr lang="en-US" sz="1600" dirty="0"/>
              <a:t>	$550K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Abbott		</a:t>
            </a:r>
            <a:r>
              <a:rPr lang="en-US" sz="1600" dirty="0" err="1"/>
              <a:t>QuantumSafe</a:t>
            </a:r>
            <a:r>
              <a:rPr lang="en-US" sz="1600" dirty="0"/>
              <a:t>	$488K</a:t>
            </a:r>
            <a:r>
              <a:rPr lang="en-US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3837B5-31F0-5A84-2873-68711281EC19}"/>
              </a:ext>
            </a:extLst>
          </p:cNvPr>
          <p:cNvSpPr txBox="1"/>
          <p:nvPr/>
        </p:nvSpPr>
        <p:spPr>
          <a:xfrm>
            <a:off x="6394092" y="1363827"/>
            <a:ext cx="5160264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Deals to close Gap of $17M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BCBSSC	z17		$6M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BCBSSC	VTL/Flash		$4.1M (pend)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BCBSSC	DS8K		$6.1M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Humana      	COS		$3.8M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Florida Blue	z17		$3.8M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D3F727-E384-2227-7A4E-32EADCDADE29}"/>
              </a:ext>
            </a:extLst>
          </p:cNvPr>
          <p:cNvSpPr txBox="1"/>
          <p:nvPr/>
        </p:nvSpPr>
        <p:spPr>
          <a:xfrm>
            <a:off x="6394092" y="3514060"/>
            <a:ext cx="53832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Other Deals in Upside / Stretch &gt; $500K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J&amp;J     	         	</a:t>
            </a:r>
            <a:r>
              <a:rPr lang="en-US" sz="1600" dirty="0" err="1"/>
              <a:t>wM</a:t>
            </a:r>
            <a:r>
              <a:rPr lang="en-US" sz="1600" dirty="0"/>
              <a:t> (</a:t>
            </a:r>
            <a:r>
              <a:rPr lang="en-US" sz="1600" dirty="0" err="1"/>
              <a:t>RemainCo</a:t>
            </a:r>
            <a:r>
              <a:rPr lang="en-US" sz="1600" dirty="0"/>
              <a:t>)       	$4.5M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BCBSNC	Confluent		$1M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HCA		</a:t>
            </a:r>
            <a:r>
              <a:rPr lang="en-US" sz="1600" dirty="0" err="1"/>
              <a:t>zMFA</a:t>
            </a:r>
            <a:r>
              <a:rPr lang="en-US" sz="1600" dirty="0"/>
              <a:t>		$850K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Humana 	Confluent (2)	$584K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HCSC 		Fusion		$500K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Florida Blue	</a:t>
            </a:r>
            <a:r>
              <a:rPr lang="en-US" sz="1600" dirty="0" err="1"/>
              <a:t>Datapower</a:t>
            </a:r>
            <a:r>
              <a:rPr lang="en-US" sz="1600" dirty="0"/>
              <a:t>	$500K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383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3111C-BAB6-927B-0280-F38F062D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97095-015C-4D11-4F13-58751D02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1" y="314721"/>
            <a:ext cx="10515600" cy="404896"/>
          </a:xfrm>
        </p:spPr>
        <p:txBody>
          <a:bodyPr>
            <a:noAutofit/>
          </a:bodyPr>
          <a:lstStyle/>
          <a:p>
            <a:r>
              <a:rPr lang="en-US" sz="2400" b="1" dirty="0"/>
              <a:t>Patel HCLS 3Q26</a:t>
            </a:r>
            <a:br>
              <a:rPr lang="en-US" sz="2400" b="1" dirty="0"/>
            </a:br>
            <a:r>
              <a:rPr lang="en-US" sz="2400" b="1" dirty="0"/>
              <a:t>SaaS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C4B859-3E79-233E-F9AD-79BA6B17E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990848"/>
              </p:ext>
            </p:extLst>
          </p:nvPr>
        </p:nvGraphicFramePr>
        <p:xfrm>
          <a:off x="3591573" y="215536"/>
          <a:ext cx="7274078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292">
                  <a:extLst>
                    <a:ext uri="{9D8B030D-6E8A-4147-A177-3AD203B41FA5}">
                      <a16:colId xmlns:a16="http://schemas.microsoft.com/office/drawing/2014/main" val="3969815714"/>
                    </a:ext>
                  </a:extLst>
                </a:gridCol>
                <a:gridCol w="1436915">
                  <a:extLst>
                    <a:ext uri="{9D8B030D-6E8A-4147-A177-3AD203B41FA5}">
                      <a16:colId xmlns:a16="http://schemas.microsoft.com/office/drawing/2014/main" val="3478867815"/>
                    </a:ext>
                  </a:extLst>
                </a:gridCol>
                <a:gridCol w="1358537">
                  <a:extLst>
                    <a:ext uri="{9D8B030D-6E8A-4147-A177-3AD203B41FA5}">
                      <a16:colId xmlns:a16="http://schemas.microsoft.com/office/drawing/2014/main" val="420600859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2332315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53010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3Q 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3Q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50519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r>
                        <a:rPr lang="en-US" dirty="0"/>
                        <a:t>$1.83M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$431K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$11.7M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$26.3M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001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FC56DA4-2557-D606-01BB-082CDECA8904}"/>
              </a:ext>
            </a:extLst>
          </p:cNvPr>
          <p:cNvSpPr txBox="1"/>
          <p:nvPr/>
        </p:nvSpPr>
        <p:spPr>
          <a:xfrm>
            <a:off x="350051" y="1328846"/>
            <a:ext cx="4490332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Deals In Call &gt; $500K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SBP		Apptio		$276K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Abbott		</a:t>
            </a:r>
            <a:r>
              <a:rPr lang="en-US" sz="1600" dirty="0" err="1"/>
              <a:t>WxO</a:t>
            </a:r>
            <a:r>
              <a:rPr lang="en-US" sz="1600" dirty="0"/>
              <a:t>		$83.7K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HCA		Terraform		$50K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Pfizer		</a:t>
            </a:r>
            <a:r>
              <a:rPr lang="en-US" sz="1600" dirty="0" err="1"/>
              <a:t>Tririga</a:t>
            </a:r>
            <a:r>
              <a:rPr lang="en-US" sz="1600" dirty="0"/>
              <a:t>		$21K</a:t>
            </a:r>
          </a:p>
          <a:p>
            <a:r>
              <a:rPr lang="en-US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9B056-9026-9DF9-149D-6C3F8D4C4626}"/>
              </a:ext>
            </a:extLst>
          </p:cNvPr>
          <p:cNvSpPr txBox="1"/>
          <p:nvPr/>
        </p:nvSpPr>
        <p:spPr>
          <a:xfrm>
            <a:off x="6394092" y="1363827"/>
            <a:ext cx="51602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Deals to close Gap of $1.4M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Pfizer		PVS non rise	$1.7M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CCF		BAW &amp; PA		$300K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Highmark	Guardium		$250K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B7B97B-94CB-A81A-F423-03A88547DBC5}"/>
              </a:ext>
            </a:extLst>
          </p:cNvPr>
          <p:cNvSpPr txBox="1"/>
          <p:nvPr/>
        </p:nvSpPr>
        <p:spPr>
          <a:xfrm>
            <a:off x="6394092" y="3514060"/>
            <a:ext cx="538323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Other Deals in Upside / Stretch &gt; $500K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J&amp;J     	         	</a:t>
            </a:r>
            <a:r>
              <a:rPr lang="en-US" sz="1600" dirty="0" err="1"/>
              <a:t>WxO</a:t>
            </a:r>
            <a:r>
              <a:rPr lang="en-US" sz="1600" dirty="0"/>
              <a:t>       		$400K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Pfizer		IAM		$750K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Labcorp</a:t>
            </a:r>
            <a:r>
              <a:rPr lang="en-US" sz="1600" dirty="0"/>
              <a:t>           	AskHR (renewal)       	$25K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Carefirst</a:t>
            </a:r>
            <a:r>
              <a:rPr lang="en-US" sz="1600" dirty="0"/>
              <a:t>           	Maximo       	$3K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Merck                	Hashi Vault       	$1M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7FABAD-7953-2FFA-BC7E-BB4680FC6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71" y="3439485"/>
            <a:ext cx="5479882" cy="267291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100" b="1" dirty="0"/>
              <a:t>Action Plan </a:t>
            </a:r>
          </a:p>
          <a:p>
            <a:pPr marL="0" indent="0">
              <a:buNone/>
            </a:pPr>
            <a:r>
              <a:rPr lang="en-US" sz="1100" dirty="0"/>
              <a:t>I will be working with the Brand Teams on Plays specific to SaaS offerings.  Our </a:t>
            </a:r>
            <a:r>
              <a:rPr lang="en-US" sz="1100" dirty="0" err="1"/>
              <a:t>WxO</a:t>
            </a:r>
            <a:r>
              <a:rPr lang="en-US" sz="1100" dirty="0"/>
              <a:t> pipeline is weaker than should be expected – continue to focus on Bob across each account</a:t>
            </a:r>
          </a:p>
          <a:p>
            <a:pPr marL="0" indent="0">
              <a:buNone/>
            </a:pPr>
            <a:r>
              <a:rPr lang="en-US" sz="1100" i="1" dirty="0"/>
              <a:t>2H Planning sessions (resets by account)</a:t>
            </a:r>
          </a:p>
          <a:p>
            <a:pPr marL="0" indent="0">
              <a:buNone/>
            </a:pPr>
            <a:r>
              <a:rPr lang="en-US" sz="1100" i="1" dirty="0"/>
              <a:t>Q3 QBRs in Mid July (remote)</a:t>
            </a:r>
          </a:p>
          <a:p>
            <a:pPr marL="0" indent="0">
              <a:buNone/>
            </a:pPr>
            <a:r>
              <a:rPr lang="en-US" sz="1100" i="1" dirty="0"/>
              <a:t>Tech Days for each client (Frame off of Highmark and Horizon)</a:t>
            </a:r>
          </a:p>
          <a:p>
            <a:pPr marL="0" indent="0">
              <a:buNone/>
            </a:pPr>
            <a:r>
              <a:rPr lang="en-US" sz="1100" i="1" dirty="0"/>
              <a:t>Continue work with Deloitte and Accenture teams</a:t>
            </a:r>
          </a:p>
          <a:p>
            <a:pPr marL="0" indent="0">
              <a:buNone/>
            </a:pPr>
            <a:r>
              <a:rPr lang="en-US" sz="1100" i="1" dirty="0"/>
              <a:t>Activation of co-selling with Microsoft (July follow-up with MS, HLS Exec)</a:t>
            </a:r>
          </a:p>
          <a:p>
            <a:pPr marL="0" indent="0">
              <a:buNone/>
            </a:pPr>
            <a:r>
              <a:rPr lang="en-US" sz="1100" i="1" dirty="0"/>
              <a:t>Focus on Bob-a-thons by account</a:t>
            </a:r>
          </a:p>
          <a:p>
            <a:pPr marL="0" indent="0">
              <a:buNone/>
            </a:pPr>
            <a:r>
              <a:rPr lang="en-US" sz="1100" i="1" dirty="0"/>
              <a:t>No immediate help needed, but expect specifics as we work through Q3 deal progression</a:t>
            </a:r>
          </a:p>
        </p:txBody>
      </p:sp>
    </p:spTree>
    <p:extLst>
      <p:ext uri="{BB962C8B-B14F-4D97-AF65-F5344CB8AC3E}">
        <p14:creationId xmlns:p14="http://schemas.microsoft.com/office/powerpoint/2010/main" val="1455228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FB48E7781CB14ABDFC5701083D6948" ma:contentTypeVersion="9" ma:contentTypeDescription="Create a new document." ma:contentTypeScope="" ma:versionID="988d68aec111750708f102f0dc65c493">
  <xsd:schema xmlns:xsd="http://www.w3.org/2001/XMLSchema" xmlns:xs="http://www.w3.org/2001/XMLSchema" xmlns:p="http://schemas.microsoft.com/office/2006/metadata/properties" xmlns:ns3="f8ac5e7d-7b7d-46e0-8d8a-f4f02b48db66" xmlns:ns4="3688a6bb-efbb-4e3c-888b-d441044b8468" targetNamespace="http://schemas.microsoft.com/office/2006/metadata/properties" ma:root="true" ma:fieldsID="7749d4f82f13de5748486d58ffaf1282" ns3:_="" ns4:_="">
    <xsd:import namespace="f8ac5e7d-7b7d-46e0-8d8a-f4f02b48db66"/>
    <xsd:import namespace="3688a6bb-efbb-4e3c-888b-d441044b846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ac5e7d-7b7d-46e0-8d8a-f4f02b48d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8a6bb-efbb-4e3c-888b-d441044b846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ac5e7d-7b7d-46e0-8d8a-f4f02b48db66" xsi:nil="true"/>
  </documentManagement>
</p:properties>
</file>

<file path=customXml/itemProps1.xml><?xml version="1.0" encoding="utf-8"?>
<ds:datastoreItem xmlns:ds="http://schemas.openxmlformats.org/officeDocument/2006/customXml" ds:itemID="{809F07C1-028B-421A-88A8-45FF3346D6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B9E785-AB0E-48B3-B105-4F072B6656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ac5e7d-7b7d-46e0-8d8a-f4f02b48db66"/>
    <ds:schemaRef ds:uri="3688a6bb-efbb-4e3c-888b-d441044b84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82765C9-2492-4046-AD0D-4676B752FB9D}">
  <ds:schemaRefs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3688a6bb-efbb-4e3c-888b-d441044b8468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8ac5e7d-7b7d-46e0-8d8a-f4f02b48db6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15055</TotalTime>
  <Words>530</Words>
  <Application>Microsoft Macintosh PowerPoint</Application>
  <PresentationFormat>Widescreen</PresentationFormat>
  <Paragraphs>86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Patel HCLS 3Q26 Trans</vt:lpstr>
      <vt:lpstr>Patel HCLS 3Q26 SaaS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Linhart</dc:creator>
  <cp:lastModifiedBy>Jeff Trbovich</cp:lastModifiedBy>
  <cp:revision>9</cp:revision>
  <cp:lastPrinted>2026-07-19T20:14:46Z</cp:lastPrinted>
  <dcterms:created xsi:type="dcterms:W3CDTF">2025-07-02T15:27:09Z</dcterms:created>
  <dcterms:modified xsi:type="dcterms:W3CDTF">2026-07-21T04:45:54Z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0x010100C0FB48E7781CB14ABDFC5701083D6948</vt:lpwstr>
  </property>
</Properties>
</file>