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E2FF"/>
    <a:srgbClr val="99CCFF"/>
    <a:srgbClr val="D5E3FF"/>
    <a:srgbClr val="6699FF"/>
    <a:srgbClr val="E5F2FF"/>
    <a:srgbClr val="BDD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357CF-1859-4A43-8A0E-5DB44C048D7B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7AA6D-C1BB-4A73-9DA0-3994D600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4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49B2-A3E0-A9A7-F46A-F40903469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716BE-3AAC-940D-8685-B6FC2EC1B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4D5F-390D-66A9-5B96-FD5A8742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7E40-7C73-1F86-458A-5A0CD650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64B8-74FC-F61F-5F1E-9AE030C3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CD08-C78F-2F62-D70A-B3E5FA88B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C865-B32C-0114-42E6-A6D2742E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C7DC-EB15-AE6C-9E88-2D00A325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55694-E17C-CD71-FF38-5A2F913B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8328E-386E-4B76-898F-97F93F65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57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1443-CA0A-9A58-A478-0E195DE3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4C4D-DFAB-7115-D533-069AAE1F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654A-962D-0491-5439-A0E6B92E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FB8CB-8CEF-844D-65E1-06F2437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65E90-22C1-3406-D0BB-78FF80F5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C024-55BD-ADDA-DCCD-E0C1F6FA9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50E3-0EC4-0FAA-8514-71280718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0DB3C-ED2B-B03E-CF74-C5972AB3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63C189-4E21-04E5-F118-C6750F5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F0B3D-EC83-3356-E9BC-4852A33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1631F-C2E7-AFC5-2B40-62233595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9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FEB7-3F5A-BF95-7CE4-E5A4826D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83418-4E70-5462-4F42-60D081A07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23276-E661-56DD-73D3-AA64BC33B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A9FEF-EC47-2950-2597-05E37319B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842384-C6D9-D565-FCF0-331ABD9EE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44278-35E4-054C-4F71-E8EBF44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5AD21-55D0-A612-C020-8D7F5DFE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ADA33-D421-952A-28B2-65C2988D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2DF5-1E80-F0F6-6F0A-C63C01B0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DC7DF-CEC6-D2F1-29B1-E6B2B585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5002A-A563-8666-009B-59580A13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21A3E-F4F9-BB7E-C53E-71D420A0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DF920-3CF8-B86D-C64D-9AF01BEFA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6243A-91A8-FD66-C2D3-AA9B02290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6F61-BE43-D4BF-FC4C-ADFEE619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86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831A-E69D-C081-8471-C6C771D1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1C18-F926-586B-790B-D0DC1341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CFCE-8973-0161-9563-6F8588DF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2734-0974-A2B4-E771-619E2F88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A0DA-70DF-6B7A-F788-B97A6B06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13CC-96B1-B312-98F5-6B10AA5E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3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A9B6-F1DC-7F75-8622-62580F4E9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1F823-09D9-1892-7F44-D1F2946F7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789C2-F408-C92E-12DB-1DC3366B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15573-461C-E589-C165-D4542AE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B9FE-0B59-A603-186D-951CBB22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45162-9D92-A22B-BEAD-A2F6757B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81C-EB75-602F-CEEE-4904F6D6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43F2C-B387-8071-32B8-85397018E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79E4-D544-572F-0CCB-CDC542BE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A3B7-5775-B3B5-FABE-2B5479EC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7AB1-E0FE-BFBB-2ED0-597EBE34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BD156-963C-5D38-DE60-9D49A8157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794B2-0D31-3A73-9AFD-F874CA282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1EF7-11E1-747A-994D-88FB6C93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A07A-72B6-2CEC-4B2E-D868E4B4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C3F4-EE23-32B3-D130-ADE0BBD4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4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dhoc Dec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 descr="cover-wallpaper.jpg"/>
          <p:cNvPicPr>
            <a:picLocks noChangeAspect="1"/>
          </p:cNvPicPr>
          <p:nvPr userDrawn="1"/>
        </p:nvPicPr>
        <p:blipFill>
          <a:blip r:embed="rId2" cstate="print"/>
          <a:srcRect b="13901"/>
          <a:stretch>
            <a:fillRect/>
          </a:stretch>
        </p:blipFill>
        <p:spPr bwMode="auto">
          <a:xfrm>
            <a:off x="0" y="3276600"/>
            <a:ext cx="1219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 userDrawn="1"/>
        </p:nvSpPr>
        <p:spPr>
          <a:xfrm rot="10800000">
            <a:off x="0" y="3121470"/>
            <a:ext cx="12192000" cy="3812732"/>
          </a:xfrm>
          <a:prstGeom prst="rect">
            <a:avLst/>
          </a:prstGeom>
          <a:gradFill>
            <a:gsLst>
              <a:gs pos="34000">
                <a:srgbClr val="FFFFFF">
                  <a:alpha val="50000"/>
                </a:srgbClr>
              </a:gs>
              <a:gs pos="100000">
                <a:srgbClr val="FFFFFF"/>
              </a:gs>
              <a:gs pos="4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7" tIns="45719" rIns="91367" bIns="45719"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 bwMode="auto">
          <a:xfrm>
            <a:off x="0" y="6651629"/>
            <a:ext cx="121920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7" name="Rectangle 19"/>
          <p:cNvSpPr>
            <a:spLocks noChangeArrowheads="1"/>
          </p:cNvSpPr>
          <p:nvPr/>
        </p:nvSpPr>
        <p:spPr bwMode="black">
          <a:xfrm>
            <a:off x="4995338" y="6626426"/>
            <a:ext cx="2186517" cy="31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67" tIns="45719" rIns="91367" bIns="4571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1467" i="0" dirty="0">
                <a:solidFill>
                  <a:srgbClr val="FFFFFF"/>
                </a:solidFill>
                <a:latin typeface="IBM Plex Sans" panose="020B0503050203000203" pitchFamily="34" charset="0"/>
                <a:ea typeface="Calibri" charset="0"/>
                <a:cs typeface="Calibri" charset="0"/>
              </a:rPr>
              <a:t>IBM Confidential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93813" y="1773240"/>
            <a:ext cx="10363200" cy="2133600"/>
          </a:xfrm>
          <a:ln w="9525"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99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600" b="1">
                <a:solidFill>
                  <a:srgbClr val="002060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lvl="0"/>
            <a:r>
              <a:rPr lang="en-US" noProof="0" dirty="0"/>
              <a:t>Deck Title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14400" y="4061970"/>
            <a:ext cx="8534400" cy="4572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>
                <a:solidFill>
                  <a:srgbClr val="777777"/>
                </a:solidFill>
                <a:latin typeface="IBM Plex Sans" panose="020B0503050203000203" pitchFamily="34" charset="0"/>
                <a:ea typeface="IBM Plex Sans" panose="020B0503050203000203" pitchFamily="34" charset="0"/>
                <a:cs typeface="Calibri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Date</a:t>
            </a:r>
          </a:p>
          <a:p>
            <a:pPr lvl="0"/>
            <a:endParaRPr lang="en-US" noProof="0" dirty="0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0" y="163193"/>
            <a:ext cx="11074400" cy="282573"/>
          </a:xfrm>
          <a:prstGeom prst="rect">
            <a:avLst/>
          </a:prstGeom>
          <a:solidFill>
            <a:srgbClr val="4F81BD"/>
          </a:solidFill>
          <a:ln w="9525">
            <a:noFill/>
            <a:miter lim="800000"/>
            <a:headEnd/>
            <a:tailEnd/>
          </a:ln>
        </p:spPr>
        <p:txBody>
          <a:bodyPr wrap="square" lIns="107901" tIns="18000" rIns="35999" bIns="18000" anchor="b">
            <a:spAutoFit/>
          </a:bodyPr>
          <a:lstStyle/>
          <a:p>
            <a:pPr marL="0" marR="0" lvl="0" indent="0" defTabSz="91353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IBM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 panose="020B0503050203000203" pitchFamily="34" charset="0"/>
                <a:ea typeface="Calibri" charset="0"/>
                <a:cs typeface="Calibri" charset="0"/>
              </a:rPr>
              <a:t>Infrastructure</a:t>
            </a:r>
          </a:p>
        </p:txBody>
      </p:sp>
      <p:pic>
        <p:nvPicPr>
          <p:cNvPr id="10" name="Picture 46" descr="blue-tri-color-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57013" y="172541"/>
            <a:ext cx="630239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5046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7832-28FD-20E7-CF3C-E8D3CE99C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6CF35-172B-00C8-1E16-3BC84E133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87002-5381-95AA-AE70-A131B07CC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04FBA-BDB5-4CD1-A230-C6E3A51930C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7E80-1209-5FAB-BF8B-840D63CDE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AED-1C73-F06B-7B1A-2BF437007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1456-CD6D-493B-ABB2-7F4963425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B7A37-CE6C-483F-B7AD-14B735A855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09325" y="0"/>
            <a:ext cx="1082675" cy="1889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47FAF-2D64-6B5A-FCFA-DDF2A2CE14B7}"/>
              </a:ext>
            </a:extLst>
          </p:cNvPr>
          <p:cNvSpPr txBox="1"/>
          <p:nvPr/>
        </p:nvSpPr>
        <p:spPr>
          <a:xfrm>
            <a:off x="558800" y="5909733"/>
            <a:ext cx="329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education series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11263-D16B-C2E8-7772-20E8AB0E401A}"/>
              </a:ext>
            </a:extLst>
          </p:cNvPr>
          <p:cNvSpPr txBox="1"/>
          <p:nvPr/>
        </p:nvSpPr>
        <p:spPr>
          <a:xfrm>
            <a:off x="1837267" y="2641600"/>
            <a:ext cx="85174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Load backlog</a:t>
            </a:r>
          </a:p>
        </p:txBody>
      </p:sp>
    </p:spTree>
    <p:extLst>
      <p:ext uri="{BB962C8B-B14F-4D97-AF65-F5344CB8AC3E}">
        <p14:creationId xmlns:p14="http://schemas.microsoft.com/office/powerpoint/2010/main" val="2134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43E8D12C-94BC-D413-F6DF-199B2FF754B4}"/>
              </a:ext>
            </a:extLst>
          </p:cNvPr>
          <p:cNvSpPr txBox="1"/>
          <p:nvPr/>
        </p:nvSpPr>
        <p:spPr>
          <a:xfrm>
            <a:off x="364067" y="148908"/>
            <a:ext cx="395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</a:t>
            </a:r>
            <a:r>
              <a:rPr lang="en-US" b="1" u="sng" dirty="0"/>
              <a:t>Load backlog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D009B2-53D0-DF3E-D6DA-8A0C2F07F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7" y="52126"/>
            <a:ext cx="640241" cy="629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61E2D2-2330-6F55-5F74-182C2AAB9297}"/>
              </a:ext>
            </a:extLst>
          </p:cNvPr>
          <p:cNvSpPr txBox="1"/>
          <p:nvPr/>
        </p:nvSpPr>
        <p:spPr>
          <a:xfrm>
            <a:off x="211667" y="476845"/>
            <a:ext cx="11286066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	Backlog </a:t>
            </a:r>
            <a:r>
              <a:rPr lang="en-US" sz="1400" dirty="0">
                <a:latin typeface="Segoe UI" panose="020B0502040204020203" pitchFamily="34" charset="0"/>
              </a:rPr>
              <a:t>refers to </a:t>
            </a:r>
            <a:r>
              <a:rPr lang="en-US" sz="1400" i="1" dirty="0">
                <a:latin typeface="Segoe UI" panose="020B0502040204020203" pitchFamily="34" charset="0"/>
              </a:rPr>
              <a:t>all unshipped customer orders (requested to be shipped in current quarter) due to delays </a:t>
            </a:r>
            <a:r>
              <a:rPr lang="en-US" sz="1400" dirty="0">
                <a:latin typeface="Segoe UI" panose="020B0502040204020203" pitchFamily="34" charset="0"/>
              </a:rPr>
              <a:t>in production or delivery. </a:t>
            </a:r>
          </a:p>
          <a:p>
            <a:r>
              <a:rPr lang="en-US" sz="1400" dirty="0">
                <a:latin typeface="Segoe UI" panose="020B0502040204020203" pitchFamily="34" charset="0"/>
              </a:rPr>
              <a:t>To predict quarterly revenue, the treatment for Power &amp; Storage orders have been adjusted to account for the </a:t>
            </a:r>
            <a:r>
              <a:rPr lang="en-US" sz="1400" b="1" dirty="0">
                <a:latin typeface="Segoe UI" panose="020B0502040204020203" pitchFamily="34" charset="0"/>
              </a:rPr>
              <a:t>‘lead time’</a:t>
            </a:r>
            <a:r>
              <a:rPr lang="en-US" sz="1400" dirty="0">
                <a:latin typeface="Segoe UI" panose="020B0502040204020203" pitchFamily="34" charset="0"/>
              </a:rPr>
              <a:t> (</a:t>
            </a:r>
            <a:r>
              <a:rPr lang="en-US" sz="1400" i="1" dirty="0">
                <a:latin typeface="Segoe UI" panose="020B0502040204020203" pitchFamily="34" charset="0"/>
              </a:rPr>
              <a:t>estimated time from firming the order until shipping the order</a:t>
            </a:r>
            <a:r>
              <a:rPr lang="en-US" sz="1400" dirty="0">
                <a:latin typeface="Segoe UI" panose="020B0502040204020203" pitchFamily="34" charset="0"/>
              </a:rPr>
              <a:t>)</a:t>
            </a:r>
          </a:p>
          <a:p>
            <a:endParaRPr lang="en-US" sz="1400" dirty="0">
              <a:latin typeface="Segoe UI" panose="020B0502040204020203" pitchFamily="34" charset="0"/>
            </a:endParaRPr>
          </a:p>
          <a:p>
            <a:r>
              <a:rPr lang="en-US" sz="1400" dirty="0">
                <a:latin typeface="Segoe UI" panose="020B0502040204020203" pitchFamily="34" charset="0"/>
              </a:rPr>
              <a:t>Different Lead time is set for 3 types of products: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</a:rPr>
              <a:t>HE (High End) products with 15 business days estimated lead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</a:rPr>
              <a:t>HV (High velocity) products with 10 business working days estimated lead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</a:rPr>
              <a:t>HV specials (Defend, CEPH, Clever) – with 50 business days estimated lead time</a:t>
            </a:r>
          </a:p>
          <a:p>
            <a:r>
              <a:rPr lang="en-US" sz="1400" dirty="0">
                <a:latin typeface="Segoe UI" panose="020B0502040204020203" pitchFamily="34" charset="0"/>
              </a:rPr>
              <a:t>Lead times are regularly reconciled &amp; might be updated based upon business changes.</a:t>
            </a:r>
          </a:p>
          <a:p>
            <a:endParaRPr lang="en-US" sz="1100" dirty="0">
              <a:latin typeface="Segoe UI" panose="020B0502040204020203" pitchFamily="34" charset="0"/>
            </a:endParaRPr>
          </a:p>
          <a:p>
            <a:r>
              <a:rPr lang="en-US" sz="1400" dirty="0">
                <a:latin typeface="Segoe UI" panose="020B0502040204020203" pitchFamily="34" charset="0"/>
              </a:rPr>
              <a:t>Based on the lead time there is </a:t>
            </a:r>
            <a:r>
              <a:rPr lang="en-US" sz="1400" b="1" dirty="0">
                <a:latin typeface="Segoe UI" panose="020B0502040204020203" pitchFamily="34" charset="0"/>
              </a:rPr>
              <a:t>cut-off date (or LOED - Last Order Entry Date) </a:t>
            </a:r>
            <a:r>
              <a:rPr lang="en-US" sz="1400" dirty="0">
                <a:latin typeface="Segoe UI" panose="020B0502040204020203" pitchFamily="34" charset="0"/>
              </a:rPr>
              <a:t>set in Load data. </a:t>
            </a:r>
          </a:p>
          <a:p>
            <a:r>
              <a:rPr lang="en-US" sz="1400" dirty="0">
                <a:latin typeface="Segoe UI" panose="020B0502040204020203" pitchFamily="34" charset="0"/>
              </a:rPr>
              <a:t>Cut-off for each power &amp; storage order is set in columns: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Segoe UI" panose="020B0502040204020203" pitchFamily="34" charset="0"/>
              </a:rPr>
              <a:t>FOP_CO_DTE (cut-off Backlog Date) with the actual cut-off date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BKLG_CAT_DTE (Backlog Category Date) with values CM – current month, NM – next month </a:t>
            </a:r>
          </a:p>
          <a:p>
            <a:endParaRPr lang="en-US" sz="1400" dirty="0"/>
          </a:p>
          <a:p>
            <a:r>
              <a:rPr lang="en-US" sz="1400" b="1" dirty="0"/>
              <a:t>Load treatment for Power &amp; Storage orders</a:t>
            </a:r>
            <a:r>
              <a:rPr lang="en-US" sz="1400" dirty="0"/>
              <a:t>		CQ – Current quarter, NQ1 – next quarter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600" dirty="0"/>
          </a:p>
          <a:p>
            <a:r>
              <a:rPr lang="en-US" sz="1400" dirty="0"/>
              <a:t>At Month End Final Backlog file is created by Supply Chain which contains all unshipped firm orders based on latest supply information.</a:t>
            </a:r>
          </a:p>
          <a:p>
            <a:endParaRPr lang="en-US" sz="1400" dirty="0"/>
          </a:p>
          <a:p>
            <a:r>
              <a:rPr lang="en-US" sz="1400" dirty="0"/>
              <a:t>At the beginning of the Next Quarter all unshipped orders (firm + unfirm) are rolled to Current Quarter.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32ED2-6197-0A81-0666-2878E504F8A1}"/>
              </a:ext>
            </a:extLst>
          </p:cNvPr>
          <p:cNvSpPr txBox="1"/>
          <p:nvPr/>
        </p:nvSpPr>
        <p:spPr>
          <a:xfrm>
            <a:off x="9058922" y="4470973"/>
            <a:ext cx="29214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When order is firmed AFTER cut-off Date, this order is moved to NQ1 &amp; is not part of CQ Load valuation. </a:t>
            </a:r>
          </a:p>
          <a:p>
            <a:r>
              <a:rPr lang="en-US" sz="1200" dirty="0"/>
              <a:t>When this order is shipped still in CQ, it is moved back from NQ1 to CQ &amp; is part of CQ Load valuation</a:t>
            </a:r>
          </a:p>
        </p:txBody>
      </p:sp>
      <p:sp>
        <p:nvSpPr>
          <p:cNvPr id="27" name="Flowchart: Terminator 26">
            <a:extLst>
              <a:ext uri="{FF2B5EF4-FFF2-40B4-BE49-F238E27FC236}">
                <a16:creationId xmlns:a16="http://schemas.microsoft.com/office/drawing/2014/main" id="{0E0FAFB0-FC9D-FE92-DA9D-9C301ECEB07B}"/>
              </a:ext>
            </a:extLst>
          </p:cNvPr>
          <p:cNvSpPr/>
          <p:nvPr/>
        </p:nvSpPr>
        <p:spPr>
          <a:xfrm>
            <a:off x="8788402" y="4470973"/>
            <a:ext cx="3318932" cy="1200329"/>
          </a:xfrm>
          <a:prstGeom prst="flowChartTermina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4242D6-9158-E703-FE36-AA8741B18067}"/>
              </a:ext>
            </a:extLst>
          </p:cNvPr>
          <p:cNvCxnSpPr>
            <a:cxnSpLocks/>
          </p:cNvCxnSpPr>
          <p:nvPr/>
        </p:nvCxnSpPr>
        <p:spPr>
          <a:xfrm flipV="1">
            <a:off x="8226084" y="4944533"/>
            <a:ext cx="705837" cy="300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9264FF-5A3F-E402-F982-BB2653BD81E5}"/>
              </a:ext>
            </a:extLst>
          </p:cNvPr>
          <p:cNvCxnSpPr>
            <a:cxnSpLocks/>
          </p:cNvCxnSpPr>
          <p:nvPr/>
        </p:nvCxnSpPr>
        <p:spPr>
          <a:xfrm flipH="1">
            <a:off x="8226084" y="5360430"/>
            <a:ext cx="705837" cy="2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A9F293F-5075-BEFB-9416-8DC04D2C5F41}"/>
              </a:ext>
            </a:extLst>
          </p:cNvPr>
          <p:cNvCxnSpPr>
            <a:cxnSpLocks/>
            <a:stCxn id="27" idx="1"/>
            <a:endCxn id="27" idx="3"/>
          </p:cNvCxnSpPr>
          <p:nvPr/>
        </p:nvCxnSpPr>
        <p:spPr>
          <a:xfrm>
            <a:off x="8788402" y="5071138"/>
            <a:ext cx="33189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F0515CF-09EA-9A31-6A67-B20C8CC25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67" y="3921325"/>
            <a:ext cx="8014417" cy="175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8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C587DE1-C761-D6AA-B7E2-62637C6A2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919" y="655190"/>
            <a:ext cx="1767693" cy="27738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ACB1F7F-BF23-DA89-2FDF-CD96F3EE0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4" y="631433"/>
            <a:ext cx="2194291" cy="20114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91033A-B574-B633-EAD4-238338090336}"/>
              </a:ext>
            </a:extLst>
          </p:cNvPr>
          <p:cNvSpPr txBox="1"/>
          <p:nvPr/>
        </p:nvSpPr>
        <p:spPr>
          <a:xfrm>
            <a:off x="639231" y="593978"/>
            <a:ext cx="11061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You can find the split to HE/HV Category in table FNP.WWLR_FRZN_BKLG. Split is done based on Family group code &amp; Family code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2481B46-7FD2-8860-106E-05FDC07829E7}"/>
              </a:ext>
            </a:extLst>
          </p:cNvPr>
          <p:cNvCxnSpPr>
            <a:cxnSpLocks/>
          </p:cNvCxnSpPr>
          <p:nvPr/>
        </p:nvCxnSpPr>
        <p:spPr>
          <a:xfrm>
            <a:off x="2914246" y="860339"/>
            <a:ext cx="1132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03B08D-8E1F-D4DF-671C-C2EE9DF73772}"/>
              </a:ext>
            </a:extLst>
          </p:cNvPr>
          <p:cNvCxnSpPr>
            <a:cxnSpLocks/>
          </p:cNvCxnSpPr>
          <p:nvPr/>
        </p:nvCxnSpPr>
        <p:spPr>
          <a:xfrm>
            <a:off x="2967213" y="2208983"/>
            <a:ext cx="1079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61DE1F4-CA66-A43B-A484-4B4427E58F41}"/>
              </a:ext>
            </a:extLst>
          </p:cNvPr>
          <p:cNvSpPr txBox="1"/>
          <p:nvPr/>
        </p:nvSpPr>
        <p:spPr>
          <a:xfrm>
            <a:off x="488041" y="4227276"/>
            <a:ext cx="2198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Load Logic</a:t>
            </a:r>
          </a:p>
          <a:p>
            <a:r>
              <a:rPr lang="en-US" sz="1200" dirty="0"/>
              <a:t>Orders where backlog logic is applied are flagged as BKLG in column LOAD_DTE_METH_CD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Orders firmed BEFORE cut-off – reported still in CQ / CM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Orders firmed AFTER cut-off – reported in NQ1 / NM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F4536-BF3B-5FAD-6046-A6C577896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388" y="904729"/>
            <a:ext cx="5485112" cy="2314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0ABAD1-D834-9A73-906F-FD416E289594}"/>
              </a:ext>
            </a:extLst>
          </p:cNvPr>
          <p:cNvSpPr txBox="1"/>
          <p:nvPr/>
        </p:nvSpPr>
        <p:spPr>
          <a:xfrm>
            <a:off x="6230388" y="629096"/>
            <a:ext cx="5322381" cy="275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Quarter Cut-off dates are in Load Calendar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1B020C-B139-215C-383B-6C1A6E503B74}"/>
              </a:ext>
            </a:extLst>
          </p:cNvPr>
          <p:cNvSpPr/>
          <p:nvPr/>
        </p:nvSpPr>
        <p:spPr>
          <a:xfrm>
            <a:off x="8268511" y="1770434"/>
            <a:ext cx="379378" cy="1653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8B2083-8649-2F3F-D42C-2BBF701E6642}"/>
              </a:ext>
            </a:extLst>
          </p:cNvPr>
          <p:cNvSpPr/>
          <p:nvPr/>
        </p:nvSpPr>
        <p:spPr>
          <a:xfrm>
            <a:off x="7905342" y="2195211"/>
            <a:ext cx="739302" cy="1653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3BB03F-2791-CCAD-3160-A32A9E5A5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6765" y="4266643"/>
            <a:ext cx="9000000" cy="19204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CC8D68-BAAC-78C0-12DB-FFB6D1A844D3}"/>
              </a:ext>
            </a:extLst>
          </p:cNvPr>
          <p:cNvSpPr txBox="1"/>
          <p:nvPr/>
        </p:nvSpPr>
        <p:spPr>
          <a:xfrm>
            <a:off x="3683004" y="3803515"/>
            <a:ext cx="77469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 Split to HE / HV	          Cut-off Date             Load logic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AE94E1-5A8B-CEF4-76F4-D12B1F7C4604}"/>
              </a:ext>
            </a:extLst>
          </p:cNvPr>
          <p:cNvSpPr/>
          <p:nvPr/>
        </p:nvSpPr>
        <p:spPr>
          <a:xfrm>
            <a:off x="4007800" y="4282404"/>
            <a:ext cx="1099225" cy="5425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2C5E08-7E7B-BA2B-F5FD-64DE5A10BEC2}"/>
              </a:ext>
            </a:extLst>
          </p:cNvPr>
          <p:cNvSpPr/>
          <p:nvPr/>
        </p:nvSpPr>
        <p:spPr>
          <a:xfrm>
            <a:off x="5934422" y="4279161"/>
            <a:ext cx="1099225" cy="5425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3DD0E7-A839-E96B-292C-B7E19249FCDA}"/>
              </a:ext>
            </a:extLst>
          </p:cNvPr>
          <p:cNvSpPr/>
          <p:nvPr/>
        </p:nvSpPr>
        <p:spPr>
          <a:xfrm>
            <a:off x="7100613" y="4279160"/>
            <a:ext cx="1099225" cy="5425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5DB31A-0D0D-8702-0862-D35952D75260}"/>
              </a:ext>
            </a:extLst>
          </p:cNvPr>
          <p:cNvSpPr/>
          <p:nvPr/>
        </p:nvSpPr>
        <p:spPr>
          <a:xfrm>
            <a:off x="8267980" y="4238472"/>
            <a:ext cx="1907167" cy="5425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989507-B544-65E8-EA55-25F6AFD54C68}"/>
              </a:ext>
            </a:extLst>
          </p:cNvPr>
          <p:cNvCxnSpPr/>
          <p:nvPr/>
        </p:nvCxnSpPr>
        <p:spPr>
          <a:xfrm>
            <a:off x="4474723" y="4059147"/>
            <a:ext cx="0" cy="167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C31535-EE60-F589-974A-BDFEC31AE5AE}"/>
              </a:ext>
            </a:extLst>
          </p:cNvPr>
          <p:cNvCxnSpPr/>
          <p:nvPr/>
        </p:nvCxnSpPr>
        <p:spPr>
          <a:xfrm>
            <a:off x="6446202" y="4059408"/>
            <a:ext cx="0" cy="167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4546EA-5C42-7A77-74DE-441599891D90}"/>
              </a:ext>
            </a:extLst>
          </p:cNvPr>
          <p:cNvCxnSpPr/>
          <p:nvPr/>
        </p:nvCxnSpPr>
        <p:spPr>
          <a:xfrm>
            <a:off x="7623258" y="4078865"/>
            <a:ext cx="0" cy="167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CC682F-07FC-6BEE-8C53-87B280DEF2C7}"/>
              </a:ext>
            </a:extLst>
          </p:cNvPr>
          <p:cNvCxnSpPr>
            <a:cxnSpLocks/>
          </p:cNvCxnSpPr>
          <p:nvPr/>
        </p:nvCxnSpPr>
        <p:spPr>
          <a:xfrm>
            <a:off x="7801583" y="4111292"/>
            <a:ext cx="599295" cy="1678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8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61445</TotalTime>
  <Words>411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IBM Plex Sans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Sabotova</dc:creator>
  <cp:lastModifiedBy>Magdalena Sabotova</cp:lastModifiedBy>
  <cp:revision>38</cp:revision>
  <dcterms:created xsi:type="dcterms:W3CDTF">2025-08-13T10:38:18Z</dcterms:created>
  <dcterms:modified xsi:type="dcterms:W3CDTF">2025-12-15T12:46:41Z</dcterms:modified>
</cp:coreProperties>
</file>