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5E2FF"/>
    <a:srgbClr val="99CCFF"/>
    <a:srgbClr val="D5E3FF"/>
    <a:srgbClr val="6699FF"/>
    <a:srgbClr val="E5F2FF"/>
    <a:srgbClr val="BD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357CF-1859-4A43-8A0E-5DB44C048D7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7AA6D-C1BB-4A73-9DA0-3994D600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4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9B2-A3E0-A9A7-F46A-F40903469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716BE-3AAC-940D-8685-B6FC2EC1B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4D5F-390D-66A9-5B96-FD5A8742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7E40-7C73-1F86-458A-5A0CD650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64B8-74FC-F61F-5F1E-9AE030C3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2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CD08-C78F-2F62-D70A-B3E5FA88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C865-B32C-0114-42E6-A6D2742E5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C7DC-EB15-AE6C-9E88-2D00A325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55694-E17C-CD71-FF38-5A2F913B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8328E-386E-4B76-898F-97F93F65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5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1443-CA0A-9A58-A478-0E195DE3C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14C4D-DFAB-7115-D533-069AAE1F9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A654A-962D-0491-5439-A0E6B92E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FB8CB-8CEF-844D-65E1-06F2437D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65E90-22C1-3406-D0BB-78FF80F5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C024-55BD-ADDA-DCCD-E0C1F6FA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50E3-0EC4-0FAA-8514-71280718F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0DB3C-ED2B-B03E-CF74-C5972AB3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3C189-4E21-04E5-F118-C6750F52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F0B3D-EC83-3356-E9BC-4852A33F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1631F-C2E7-AFC5-2B40-62233595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9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FEB7-3F5A-BF95-7CE4-E5A4826D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83418-4E70-5462-4F42-60D081A07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23276-E661-56DD-73D3-AA64BC33B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A9FEF-EC47-2950-2597-05E37319B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42384-C6D9-D565-FCF0-331ABD9EE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44278-35E4-054C-4F71-E8EBF448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5AD21-55D0-A612-C020-8D7F5DFE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ADA33-D421-952A-28B2-65C2988D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2DF5-1E80-F0F6-6F0A-C63C01B0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DC7DF-CEC6-D2F1-29B1-E6B2B585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5002A-A563-8666-009B-59580A13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21A3E-F4F9-BB7E-C53E-71D420A0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DF920-3CF8-B86D-C64D-9AF01BEF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6243A-91A8-FD66-C2D3-AA9B0229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6F61-BE43-D4BF-FC4C-ADFEE619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6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831A-E69D-C081-8471-C6C771D1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1C18-F926-586B-790B-D0DC1341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BCFCE-8973-0161-9563-6F8588DF8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62734-0974-A2B4-E771-619E2F88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A0DA-70DF-6B7A-F788-B97A6B06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C13CC-96B1-B312-98F5-6B10AA5E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3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A9B6-F1DC-7F75-8622-62580F4E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1F823-09D9-1892-7F44-D1F2946F7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789C2-F408-C92E-12DB-1DC3366BA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15573-461C-E589-C165-D4542AEB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1B9FE-0B59-A603-186D-951CBB22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5162-9D92-A22B-BEAD-A2F6757B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3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881C-EB75-602F-CEEE-4904F6D6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43F2C-B387-8071-32B8-85397018E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79E4-D544-572F-0CCB-CDC542BE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A3B7-5775-B3B5-FABE-2B5479EC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07AB1-E0FE-BFBB-2ED0-597EBE34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BD156-963C-5D38-DE60-9D49A8157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794B2-0D31-3A73-9AFD-F874CA282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1EF7-11E1-747A-994D-88FB6C93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EA07A-72B6-2CEC-4B2E-D868E4B4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3C3F4-EE23-32B3-D130-ADE0BBD4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64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dhoc Dec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 descr="cover-wallpaper.jpg"/>
          <p:cNvPicPr>
            <a:picLocks noChangeAspect="1"/>
          </p:cNvPicPr>
          <p:nvPr userDrawn="1"/>
        </p:nvPicPr>
        <p:blipFill>
          <a:blip r:embed="rId2" cstate="print"/>
          <a:srcRect b="13901"/>
          <a:stretch>
            <a:fillRect/>
          </a:stretch>
        </p:blipFill>
        <p:spPr bwMode="auto">
          <a:xfrm>
            <a:off x="0" y="3276600"/>
            <a:ext cx="12192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 userDrawn="1"/>
        </p:nvSpPr>
        <p:spPr>
          <a:xfrm rot="10800000">
            <a:off x="0" y="3121470"/>
            <a:ext cx="12192000" cy="3812732"/>
          </a:xfrm>
          <a:prstGeom prst="rect">
            <a:avLst/>
          </a:prstGeom>
          <a:gradFill>
            <a:gsLst>
              <a:gs pos="34000">
                <a:srgbClr val="FFFFFF">
                  <a:alpha val="50000"/>
                </a:srgbClr>
              </a:gs>
              <a:gs pos="100000">
                <a:srgbClr val="FFFFFF"/>
              </a:gs>
              <a:gs pos="4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7" tIns="45719" rIns="91367" bIns="45719"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8" name="Title 1"/>
          <p:cNvSpPr txBox="1">
            <a:spLocks/>
          </p:cNvSpPr>
          <p:nvPr userDrawn="1"/>
        </p:nvSpPr>
        <p:spPr bwMode="auto">
          <a:xfrm>
            <a:off x="0" y="6651629"/>
            <a:ext cx="121920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black">
          <a:xfrm>
            <a:off x="4995338" y="6626426"/>
            <a:ext cx="2186517" cy="318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67" tIns="45719" rIns="91367" bIns="4571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1467" i="0" dirty="0">
                <a:solidFill>
                  <a:srgbClr val="FFFFFF"/>
                </a:solidFill>
                <a:latin typeface="IBM Plex Sans" panose="020B0503050203000203" pitchFamily="34" charset="0"/>
                <a:ea typeface="Calibri" charset="0"/>
                <a:cs typeface="Calibri" charset="0"/>
              </a:rPr>
              <a:t>IBM Confidential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93813" y="1773240"/>
            <a:ext cx="10363200" cy="2133600"/>
          </a:xfrm>
          <a:ln w="9525"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99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600" b="1">
                <a:solidFill>
                  <a:srgbClr val="002060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lvl="0"/>
            <a:r>
              <a:rPr lang="en-US" noProof="0" dirty="0"/>
              <a:t>Deck Title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914400" y="4061970"/>
            <a:ext cx="8534400" cy="4572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>
                <a:solidFill>
                  <a:srgbClr val="777777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Date</a:t>
            </a:r>
          </a:p>
          <a:p>
            <a:pPr lvl="0"/>
            <a:endParaRPr lang="en-US" noProof="0" dirty="0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0" y="163193"/>
            <a:ext cx="110744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IBM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Infrastructure</a:t>
            </a:r>
          </a:p>
        </p:txBody>
      </p:sp>
      <p:pic>
        <p:nvPicPr>
          <p:cNvPr id="10" name="Picture 46" descr="blue-tri-color-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57013" y="172541"/>
            <a:ext cx="630239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046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27832-28FD-20E7-CF3C-E8D3CE99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6CF35-172B-00C8-1E16-3BC84E133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87002-5381-95AA-AE70-A131B07CC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B7E80-1209-5FAB-BF8B-840D63CDE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BAED-1C73-F06B-7B1A-2BF437007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4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elds%20in%20Load%20tables.xls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3.ibm.com/w3publisher/ww-load-end-user-commun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B7A37-CE6C-483F-B7AD-14B735A855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09325" y="0"/>
            <a:ext cx="1082675" cy="18891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47FAF-2D64-6B5A-FCFA-DDF2A2CE14B7}"/>
              </a:ext>
            </a:extLst>
          </p:cNvPr>
          <p:cNvSpPr txBox="1"/>
          <p:nvPr/>
        </p:nvSpPr>
        <p:spPr>
          <a:xfrm>
            <a:off x="558800" y="5909733"/>
            <a:ext cx="329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education series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11263-D16B-C2E8-7772-20E8AB0E401A}"/>
              </a:ext>
            </a:extLst>
          </p:cNvPr>
          <p:cNvSpPr txBox="1"/>
          <p:nvPr/>
        </p:nvSpPr>
        <p:spPr>
          <a:xfrm>
            <a:off x="1837267" y="2641600"/>
            <a:ext cx="8517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Load tables</a:t>
            </a:r>
          </a:p>
          <a:p>
            <a:endParaRPr lang="en-AU" sz="4000" i="1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433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3E8D12C-94BC-D413-F6DF-199B2FF754B4}"/>
              </a:ext>
            </a:extLst>
          </p:cNvPr>
          <p:cNvSpPr txBox="1"/>
          <p:nvPr/>
        </p:nvSpPr>
        <p:spPr>
          <a:xfrm>
            <a:off x="211667" y="148908"/>
            <a:ext cx="395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</a:t>
            </a:r>
            <a:r>
              <a:rPr lang="en-US" b="1" u="sng" dirty="0"/>
              <a:t>Load tables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D009B2-53D0-DF3E-D6DA-8A0C2F07F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7" y="52126"/>
            <a:ext cx="640241" cy="629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664C80-AEAF-01DF-16A2-EE6909D78492}"/>
              </a:ext>
            </a:extLst>
          </p:cNvPr>
          <p:cNvSpPr txBox="1"/>
          <p:nvPr/>
        </p:nvSpPr>
        <p:spPr>
          <a:xfrm>
            <a:off x="369996" y="647694"/>
            <a:ext cx="11387604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00" dirty="0"/>
              <a:t>The Worldwide Load process runs on the </a:t>
            </a:r>
            <a:r>
              <a:rPr lang="en-AU" sz="1300" i="1" u="sng" dirty="0"/>
              <a:t>DB2 environment</a:t>
            </a:r>
            <a:r>
              <a:rPr lang="en-AU" sz="1300" dirty="0"/>
              <a:t>.  </a:t>
            </a:r>
          </a:p>
          <a:p>
            <a:r>
              <a:rPr lang="en-AU" sz="1300" dirty="0"/>
              <a:t>The output is a series of DB2 reporting tables that contain snapshots of the </a:t>
            </a:r>
            <a:r>
              <a:rPr lang="en-AU" sz="1300" b="1" dirty="0"/>
              <a:t>Current Day Load</a:t>
            </a:r>
            <a:r>
              <a:rPr lang="en-AU" sz="1300" dirty="0"/>
              <a:t>, </a:t>
            </a:r>
            <a:r>
              <a:rPr lang="en-AU" sz="1300" b="1" dirty="0"/>
              <a:t>Prior Day</a:t>
            </a:r>
            <a:r>
              <a:rPr lang="en-AU" sz="1300" dirty="0"/>
              <a:t>, and </a:t>
            </a:r>
            <a:r>
              <a:rPr lang="en-AU" sz="1300" b="1" dirty="0"/>
              <a:t>Prior Week</a:t>
            </a:r>
            <a:r>
              <a:rPr lang="en-AU" sz="1300" dirty="0"/>
              <a:t>.  Final quarter load table is available in historical tables for post-quarter analysis (this requires special access to be granted). Load data are always cumulative, show all entries rolled from &amp; not finalized in previous quarter plus current quarter additions. Data are as of current &amp; future period. </a:t>
            </a:r>
          </a:p>
          <a:p>
            <a:endParaRPr lang="en-AU" sz="500" dirty="0"/>
          </a:p>
          <a:p>
            <a:r>
              <a:rPr lang="en-AU" sz="1300" dirty="0"/>
              <a:t>After quarter (usually WD8), </a:t>
            </a:r>
            <a:r>
              <a:rPr lang="en-AU" sz="1300" i="1" dirty="0"/>
              <a:t>quarter roll process </a:t>
            </a:r>
            <a:r>
              <a:rPr lang="en-AU" sz="1300" dirty="0"/>
              <a:t>is performed. This ensures that all orders which are not yet finalized (Unfirms, Firm </a:t>
            </a:r>
            <a:r>
              <a:rPr lang="en-AU" sz="1300" dirty="0" err="1"/>
              <a:t>unhships</a:t>
            </a:r>
            <a:r>
              <a:rPr lang="en-AU" sz="1300" dirty="0"/>
              <a:t>, Non Accepted Risk of Loss) are transferred to new quarter. </a:t>
            </a:r>
          </a:p>
          <a:p>
            <a:endParaRPr lang="en-AU" sz="500" dirty="0"/>
          </a:p>
          <a:p>
            <a:r>
              <a:rPr lang="en-AU" sz="1300" dirty="0"/>
              <a:t>Data are loaded in </a:t>
            </a:r>
            <a:r>
              <a:rPr lang="en-AU" sz="1300" b="1" i="1" dirty="0"/>
              <a:t>Current Day </a:t>
            </a:r>
            <a:r>
              <a:rPr lang="en-AU" sz="1300" i="1" dirty="0"/>
              <a:t>table. Data in the table </a:t>
            </a:r>
            <a:r>
              <a:rPr lang="en-AU" sz="1300" dirty="0"/>
              <a:t>are as of </a:t>
            </a:r>
            <a:r>
              <a:rPr lang="en-AU" sz="1300" u="sng" dirty="0"/>
              <a:t>previous day source data</a:t>
            </a:r>
            <a:r>
              <a:rPr lang="en-AU" sz="1300" dirty="0"/>
              <a:t>. Meaning, data in Load table visible on </a:t>
            </a:r>
            <a:r>
              <a:rPr lang="en-AU" sz="1300" i="1" u="sng" dirty="0"/>
              <a:t>Tuesday</a:t>
            </a:r>
            <a:r>
              <a:rPr lang="en-AU" sz="1300" dirty="0"/>
              <a:t> are all entries – additions, removals, price&amp; other changes etc. which were registered in the source systems during </a:t>
            </a:r>
            <a:r>
              <a:rPr lang="en-AU" sz="1300" i="1" u="sng" dirty="0"/>
              <a:t>Monday. </a:t>
            </a:r>
            <a:r>
              <a:rPr lang="en-AU" sz="1300" dirty="0"/>
              <a:t>Monday’s changes are then added to the latest Load table.</a:t>
            </a:r>
          </a:p>
          <a:p>
            <a:r>
              <a:rPr lang="en-AU" sz="1300" dirty="0"/>
              <a:t>On the next day, Current Day table is copied to </a:t>
            </a:r>
            <a:r>
              <a:rPr lang="en-AU" sz="1300" b="1" i="1" dirty="0"/>
              <a:t>Prior Day </a:t>
            </a:r>
            <a:r>
              <a:rPr lang="en-AU" sz="1300" dirty="0"/>
              <a:t>table and all new additions/removals/changes from source tables which happened previous day are then added to this Prior Day table and new Current Day table is created.</a:t>
            </a:r>
          </a:p>
          <a:p>
            <a:r>
              <a:rPr lang="en-AU" sz="1300" dirty="0"/>
              <a:t>Load is running during work week. Exceptionally Load run is scheduled during weekend, usually End of Month/Quarter. This schedule is published in Load Calendar for the whole quarter. Load Calendar is sent at the beginning of each quarter and also published in Load w3publisher.</a:t>
            </a:r>
          </a:p>
          <a:p>
            <a:endParaRPr lang="en-AU" sz="400" b="1" i="1" dirty="0"/>
          </a:p>
          <a:p>
            <a:r>
              <a:rPr lang="en-AU" sz="1300" b="1" i="1" dirty="0"/>
              <a:t>Prior week </a:t>
            </a:r>
            <a:r>
              <a:rPr lang="en-AU" sz="1300" i="1" dirty="0"/>
              <a:t>Load table </a:t>
            </a:r>
            <a:r>
              <a:rPr lang="en-AU" sz="1300" dirty="0"/>
              <a:t>is meant prior Friday’s data (Monday’s Load table). Change to new week happens on Tuesday, where Prior week table is updated for the latest Friday’s data (Monday’s table). </a:t>
            </a:r>
            <a:r>
              <a:rPr lang="en-AU" sz="1300" dirty="0" err="1"/>
              <a:t>WtW</a:t>
            </a:r>
            <a:r>
              <a:rPr lang="en-AU" sz="1300" dirty="0"/>
              <a:t> comparison is only possible as Current Day vs. Prior Friday data (</a:t>
            </a:r>
            <a:r>
              <a:rPr lang="en-AU" sz="1300" dirty="0" err="1"/>
              <a:t>f.e</a:t>
            </a:r>
            <a:r>
              <a:rPr lang="en-AU" sz="1300" dirty="0"/>
              <a:t>. Wednesday table vs. prior Friday data).</a:t>
            </a:r>
          </a:p>
          <a:p>
            <a:endParaRPr lang="en-AU" sz="500" dirty="0"/>
          </a:p>
          <a:p>
            <a:r>
              <a:rPr lang="en-AU" sz="1300" dirty="0"/>
              <a:t>Last report in the quarter has </a:t>
            </a:r>
            <a:r>
              <a:rPr lang="en-AU" sz="1300" i="1" u="sng" dirty="0"/>
              <a:t>blackout restrictions </a:t>
            </a:r>
            <a:r>
              <a:rPr lang="en-AU" sz="1300" dirty="0"/>
              <a:t>and is only visible to those with blackout access.</a:t>
            </a:r>
          </a:p>
          <a:p>
            <a:endParaRPr lang="en-US" sz="500" dirty="0"/>
          </a:p>
          <a:p>
            <a:r>
              <a:rPr lang="en-US" sz="1400" dirty="0"/>
              <a:t>There are 3 types of Load tables – </a:t>
            </a:r>
            <a:r>
              <a:rPr lang="en-US" sz="1400" b="1" dirty="0"/>
              <a:t>Order, Device &amp; Measurement </a:t>
            </a:r>
            <a:r>
              <a:rPr lang="en-US" sz="1400" dirty="0"/>
              <a:t>and for each type we have Current Day table, Prior day table and Prior week table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800" dirty="0">
              <a:sym typeface="Wingdings" panose="05000000000000000000" pitchFamily="2" charset="2"/>
            </a:endParaRPr>
          </a:p>
          <a:p>
            <a:endParaRPr lang="en-US" sz="1300" dirty="0"/>
          </a:p>
          <a:p>
            <a:endParaRPr lang="en-US" sz="1300" dirty="0"/>
          </a:p>
          <a:p>
            <a:endParaRPr lang="en-US" sz="1200" dirty="0"/>
          </a:p>
          <a:p>
            <a:r>
              <a:rPr lang="en-AU" sz="1400" dirty="0"/>
              <a:t>List of all columns with short description is enclosed in this </a:t>
            </a:r>
            <a:r>
              <a:rPr lang="en-AU" sz="1400" dirty="0">
                <a:hlinkClick r:id="rId3" action="ppaction://hlinkfile"/>
              </a:rPr>
              <a:t>excel file</a:t>
            </a:r>
            <a:endParaRPr lang="en-AU" sz="1400" dirty="0"/>
          </a:p>
          <a:p>
            <a:endParaRPr lang="en-AU" sz="500" dirty="0"/>
          </a:p>
          <a:p>
            <a:r>
              <a:rPr lang="en-AU" sz="1400" dirty="0"/>
              <a:t>Access to DB2 tables requires valid MVS ID and granted access. More information about access can be found in</a:t>
            </a:r>
            <a:r>
              <a:rPr lang="en-AU" sz="1400" b="1" dirty="0"/>
              <a:t> </a:t>
            </a:r>
            <a:r>
              <a:rPr lang="en-AU" sz="1400" i="1" u="sng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 Load Community</a:t>
            </a:r>
            <a:r>
              <a:rPr lang="en-AU" sz="1400" i="1" u="sng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E782F2-AB42-7C1A-BB2F-C86128A2AEB6}"/>
              </a:ext>
            </a:extLst>
          </p:cNvPr>
          <p:cNvSpPr txBox="1"/>
          <p:nvPr/>
        </p:nvSpPr>
        <p:spPr>
          <a:xfrm>
            <a:off x="6867836" y="4492496"/>
            <a:ext cx="50292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Due to different time zones, Tables are run separately: </a:t>
            </a:r>
          </a:p>
          <a:p>
            <a:r>
              <a:rPr lang="en-US" sz="1200" b="1" dirty="0"/>
              <a:t>EA</a:t>
            </a:r>
            <a:r>
              <a:rPr lang="en-US" sz="1200" dirty="0"/>
              <a:t> (EMEA,APAC, Japan) –run starts at 7PM EST on the same day &amp; 4AM next day</a:t>
            </a:r>
          </a:p>
          <a:p>
            <a:r>
              <a:rPr lang="en-US" sz="1200" b="1" dirty="0"/>
              <a:t>AM</a:t>
            </a:r>
            <a:r>
              <a:rPr lang="en-US" sz="1200" dirty="0"/>
              <a:t> (Americas) – run starts at 4AM next day &amp; 10AM next day</a:t>
            </a:r>
          </a:p>
          <a:p>
            <a:r>
              <a:rPr lang="en-US" sz="1200" b="1" dirty="0"/>
              <a:t>WW</a:t>
            </a:r>
            <a:r>
              <a:rPr lang="en-US" sz="1200" dirty="0"/>
              <a:t> (EA + AM) – after AM run finishes</a:t>
            </a:r>
          </a:p>
          <a:p>
            <a:r>
              <a:rPr lang="en-US" dirty="0"/>
              <a:t>          </a:t>
            </a:r>
          </a:p>
          <a:p>
            <a:r>
              <a:rPr lang="en-US" sz="1400" dirty="0"/>
              <a:t>Table names for EA &amp; AM are the same, but instead of </a:t>
            </a:r>
            <a:r>
              <a:rPr lang="en-US" sz="1400" dirty="0">
                <a:solidFill>
                  <a:srgbClr val="0000FF"/>
                </a:solidFill>
              </a:rPr>
              <a:t>WW</a:t>
            </a:r>
            <a:r>
              <a:rPr lang="en-US" sz="1400" dirty="0"/>
              <a:t>, they are replaced with </a:t>
            </a:r>
            <a:r>
              <a:rPr lang="en-US" sz="1400" dirty="0">
                <a:solidFill>
                  <a:srgbClr val="0000FF"/>
                </a:solidFill>
              </a:rPr>
              <a:t>EAL</a:t>
            </a:r>
            <a:r>
              <a:rPr lang="en-US" sz="1400" dirty="0"/>
              <a:t> &amp; </a:t>
            </a:r>
            <a:r>
              <a:rPr lang="en-US" sz="1400" dirty="0">
                <a:solidFill>
                  <a:srgbClr val="0000FF"/>
                </a:solidFill>
              </a:rPr>
              <a:t>AML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4661A9F-C08C-E889-08C8-63F516A09C83}"/>
              </a:ext>
            </a:extLst>
          </p:cNvPr>
          <p:cNvSpPr/>
          <p:nvPr/>
        </p:nvSpPr>
        <p:spPr>
          <a:xfrm>
            <a:off x="6426487" y="4907679"/>
            <a:ext cx="414529" cy="2878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CD53C2F-2328-A2D0-EE11-FD20F3287D97}"/>
              </a:ext>
            </a:extLst>
          </p:cNvPr>
          <p:cNvSpPr/>
          <p:nvPr/>
        </p:nvSpPr>
        <p:spPr>
          <a:xfrm>
            <a:off x="6425068" y="5805464"/>
            <a:ext cx="414529" cy="2878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7CB8B19-C86F-F04E-8FE6-97F33C631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476" y="4467717"/>
            <a:ext cx="5988017" cy="16917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541B83-2D3A-3D1C-249F-B8B1CB34837E}"/>
              </a:ext>
            </a:extLst>
          </p:cNvPr>
          <p:cNvSpPr/>
          <p:nvPr/>
        </p:nvSpPr>
        <p:spPr>
          <a:xfrm>
            <a:off x="396476" y="706963"/>
            <a:ext cx="11387604" cy="8593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81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21907</TotalTime>
  <Words>527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IBM Plex Sans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Magdalena Sabotova</dc:creator>
  <cp:lastModifiedBy>Magdalena Sabotova</cp:lastModifiedBy>
  <cp:revision>25</cp:revision>
  <dcterms:created xsi:type="dcterms:W3CDTF">2025-08-13T10:38:18Z</dcterms:created>
  <dcterms:modified xsi:type="dcterms:W3CDTF">2025-11-10T10:22:21Z</dcterms:modified>
</cp:coreProperties>
</file>