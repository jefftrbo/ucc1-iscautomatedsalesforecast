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257" r:id="rId3"/>
    <p:sldId id="267" r:id="rId4"/>
    <p:sldId id="2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5E2FF"/>
    <a:srgbClr val="99CCFF"/>
    <a:srgbClr val="D5E3FF"/>
    <a:srgbClr val="6699FF"/>
    <a:srgbClr val="E5F2FF"/>
    <a:srgbClr val="BDD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357CF-1859-4A43-8A0E-5DB44C048D7B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7AA6D-C1BB-4A73-9DA0-3994D600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4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49B2-A3E0-A9A7-F46A-F40903469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716BE-3AAC-940D-8685-B6FC2EC1B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94D5F-390D-66A9-5B96-FD5A8742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F7E40-7C73-1F86-458A-5A0CD6508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464B8-74FC-F61F-5F1E-9AE030C3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2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CD08-C78F-2F62-D70A-B3E5FA88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8C865-B32C-0114-42E6-A6D2742E5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8C7DC-EB15-AE6C-9E88-2D00A325E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55694-E17C-CD71-FF38-5A2F913B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8328E-386E-4B76-898F-97F93F650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57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1443-CA0A-9A58-A478-0E195DE3C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14C4D-DFAB-7115-D533-069AAE1F9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A654A-962D-0491-5439-A0E6B92EC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FB8CB-8CEF-844D-65E1-06F2437D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65E90-22C1-3406-D0BB-78FF80F5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C024-55BD-ADDA-DCCD-E0C1F6FA9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B50E3-0EC4-0FAA-8514-71280718F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0DB3C-ED2B-B03E-CF74-C5972AB3F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3C189-4E21-04E5-F118-C6750F52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F0B3D-EC83-3356-E9BC-4852A33F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1631F-C2E7-AFC5-2B40-62233595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98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FEB7-3F5A-BF95-7CE4-E5A4826DB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83418-4E70-5462-4F42-60D081A07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23276-E661-56DD-73D3-AA64BC33B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A9FEF-EC47-2950-2597-05E37319B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42384-C6D9-D565-FCF0-331ABD9EE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744278-35E4-054C-4F71-E8EBF448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E5AD21-55D0-A612-C020-8D7F5DFE6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ADA33-D421-952A-28B2-65C2988D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8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2DF5-1E80-F0F6-6F0A-C63C01B0E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DC7DF-CEC6-D2F1-29B1-E6B2B585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5002A-A563-8666-009B-59580A13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21A3E-F4F9-BB7E-C53E-71D420A0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6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FDF920-3CF8-B86D-C64D-9AF01BEFA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6243A-91A8-FD66-C2D3-AA9B02290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36F61-BE43-D4BF-FC4C-ADFEE619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62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831A-E69D-C081-8471-C6C771D12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11C18-F926-586B-790B-D0DC1341D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BCFCE-8973-0161-9563-6F8588DF8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62734-0974-A2B4-E771-619E2F88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1A0DA-70DF-6B7A-F788-B97A6B068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C13CC-96B1-B312-98F5-6B10AA5E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3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9A9B6-F1DC-7F75-8622-62580F4E9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1F823-09D9-1892-7F44-D1F2946F7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789C2-F408-C92E-12DB-1DC3366BA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15573-461C-E589-C165-D4542AEB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1B9FE-0B59-A603-186D-951CBB22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45162-9D92-A22B-BEAD-A2F6757B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3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B881C-EB75-602F-CEEE-4904F6D6A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43F2C-B387-8071-32B8-85397018E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979E4-D544-572F-0CCB-CDC542BE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A3B7-5775-B3B5-FABE-2B5479EC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07AB1-E0FE-BFBB-2ED0-597EBE34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BD156-963C-5D38-DE60-9D49A8157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794B2-0D31-3A73-9AFD-F874CA282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61EF7-11E1-747A-994D-88FB6C93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EA07A-72B6-2CEC-4B2E-D868E4B4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3C3F4-EE23-32B3-D130-ADE0BBD4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64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dhoc Dec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8" descr="cover-wallpaper.jpg"/>
          <p:cNvPicPr>
            <a:picLocks noChangeAspect="1"/>
          </p:cNvPicPr>
          <p:nvPr userDrawn="1"/>
        </p:nvPicPr>
        <p:blipFill>
          <a:blip r:embed="rId2" cstate="print"/>
          <a:srcRect b="13901"/>
          <a:stretch>
            <a:fillRect/>
          </a:stretch>
        </p:blipFill>
        <p:spPr bwMode="auto">
          <a:xfrm>
            <a:off x="0" y="3276600"/>
            <a:ext cx="12192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 userDrawn="1"/>
        </p:nvSpPr>
        <p:spPr>
          <a:xfrm rot="10800000">
            <a:off x="0" y="3121470"/>
            <a:ext cx="12192000" cy="3812732"/>
          </a:xfrm>
          <a:prstGeom prst="rect">
            <a:avLst/>
          </a:prstGeom>
          <a:gradFill>
            <a:gsLst>
              <a:gs pos="34000">
                <a:srgbClr val="FFFFFF">
                  <a:alpha val="50000"/>
                </a:srgbClr>
              </a:gs>
              <a:gs pos="100000">
                <a:srgbClr val="FFFFFF"/>
              </a:gs>
              <a:gs pos="4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7" tIns="45719" rIns="91367" bIns="45719"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8" name="Title 1"/>
          <p:cNvSpPr txBox="1">
            <a:spLocks/>
          </p:cNvSpPr>
          <p:nvPr userDrawn="1"/>
        </p:nvSpPr>
        <p:spPr bwMode="auto">
          <a:xfrm>
            <a:off x="0" y="6651629"/>
            <a:ext cx="12192000" cy="282573"/>
          </a:xfrm>
          <a:prstGeom prst="rect">
            <a:avLst/>
          </a:prstGeom>
          <a:solidFill>
            <a:srgbClr val="4F81BD"/>
          </a:solidFill>
          <a:ln w="9525">
            <a:noFill/>
            <a:miter lim="800000"/>
            <a:headEnd/>
            <a:tailEnd/>
          </a:ln>
        </p:spPr>
        <p:txBody>
          <a:bodyPr wrap="square" lIns="107901" tIns="18000" rIns="35999" bIns="18000" anchor="b">
            <a:spAutoFit/>
          </a:bodyPr>
          <a:lstStyle/>
          <a:p>
            <a:pPr marL="0" marR="0" lvl="0" indent="0" defTabSz="9135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black">
          <a:xfrm>
            <a:off x="4995338" y="6626426"/>
            <a:ext cx="2186517" cy="318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67" tIns="45719" rIns="91367" bIns="4571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1467" i="0" dirty="0">
                <a:solidFill>
                  <a:srgbClr val="FFFFFF"/>
                </a:solidFill>
                <a:latin typeface="IBM Plex Sans" panose="020B0503050203000203" pitchFamily="34" charset="0"/>
                <a:ea typeface="Calibri" charset="0"/>
                <a:cs typeface="Calibri" charset="0"/>
              </a:rPr>
              <a:t>IBM Confidential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893813" y="1773240"/>
            <a:ext cx="10363200" cy="2133600"/>
          </a:xfrm>
          <a:ln w="9525"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99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sz="3600" b="1">
                <a:solidFill>
                  <a:srgbClr val="002060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Calibri" charset="0"/>
              </a:defRPr>
            </a:lvl1pPr>
          </a:lstStyle>
          <a:p>
            <a:pPr lvl="0"/>
            <a:r>
              <a:rPr lang="en-US" noProof="0" dirty="0"/>
              <a:t>Deck Title</a:t>
            </a: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914400" y="4061970"/>
            <a:ext cx="8534400" cy="457200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>
                <a:solidFill>
                  <a:srgbClr val="777777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Calibri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Date</a:t>
            </a:r>
          </a:p>
          <a:p>
            <a:pPr lvl="0"/>
            <a:endParaRPr lang="en-US" noProof="0" dirty="0"/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0" y="163193"/>
            <a:ext cx="11074400" cy="282573"/>
          </a:xfrm>
          <a:prstGeom prst="rect">
            <a:avLst/>
          </a:prstGeom>
          <a:solidFill>
            <a:srgbClr val="4F81BD"/>
          </a:solidFill>
          <a:ln w="9525">
            <a:noFill/>
            <a:miter lim="800000"/>
            <a:headEnd/>
            <a:tailEnd/>
          </a:ln>
        </p:spPr>
        <p:txBody>
          <a:bodyPr wrap="square" lIns="107901" tIns="18000" rIns="35999" bIns="18000" anchor="b">
            <a:spAutoFit/>
          </a:bodyPr>
          <a:lstStyle/>
          <a:p>
            <a:pPr marL="0" marR="0" lvl="0" indent="0" defTabSz="9135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 panose="020B0503050203000203" pitchFamily="34" charset="0"/>
                <a:ea typeface="Calibri" charset="0"/>
                <a:cs typeface="Calibri" charset="0"/>
              </a:rPr>
              <a:t>IBM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 panose="020B0503050203000203" pitchFamily="34" charset="0"/>
                <a:ea typeface="Calibri" charset="0"/>
                <a:cs typeface="Calibri" charset="0"/>
              </a:rPr>
              <a:t>Infrastructure</a:t>
            </a:r>
          </a:p>
        </p:txBody>
      </p:sp>
      <p:pic>
        <p:nvPicPr>
          <p:cNvPr id="10" name="Picture 46" descr="blue-tri-color-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57013" y="172541"/>
            <a:ext cx="630239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5046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D27832-28FD-20E7-CF3C-E8D3CE99C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6CF35-172B-00C8-1E16-3BC84E133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87002-5381-95AA-AE70-A131B07CC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904FBA-BDB5-4CD1-A230-C6E3A51930C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B7E80-1209-5FAB-BF8B-840D63CDE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4BAED-1C73-F06B-7B1A-2BF437007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4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B7A37-CE6C-483F-B7AD-14B735A855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09325" y="0"/>
            <a:ext cx="1082675" cy="18891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47FAF-2D64-6B5A-FCFA-DDF2A2CE14B7}"/>
              </a:ext>
            </a:extLst>
          </p:cNvPr>
          <p:cNvSpPr txBox="1"/>
          <p:nvPr/>
        </p:nvSpPr>
        <p:spPr>
          <a:xfrm>
            <a:off x="558800" y="5909733"/>
            <a:ext cx="329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 education series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211263-D16B-C2E8-7772-20E8AB0E401A}"/>
              </a:ext>
            </a:extLst>
          </p:cNvPr>
          <p:cNvSpPr txBox="1"/>
          <p:nvPr/>
        </p:nvSpPr>
        <p:spPr>
          <a:xfrm>
            <a:off x="1837267" y="2641600"/>
            <a:ext cx="85174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Load metrics</a:t>
            </a:r>
          </a:p>
        </p:txBody>
      </p:sp>
    </p:spTree>
    <p:extLst>
      <p:ext uri="{BB962C8B-B14F-4D97-AF65-F5344CB8AC3E}">
        <p14:creationId xmlns:p14="http://schemas.microsoft.com/office/powerpoint/2010/main" val="2134433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3E8D12C-94BC-D413-F6DF-199B2FF754B4}"/>
              </a:ext>
            </a:extLst>
          </p:cNvPr>
          <p:cNvSpPr txBox="1"/>
          <p:nvPr/>
        </p:nvSpPr>
        <p:spPr>
          <a:xfrm>
            <a:off x="211667" y="148908"/>
            <a:ext cx="395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   </a:t>
            </a:r>
            <a:r>
              <a:rPr lang="en-US" b="1" u="sng" dirty="0"/>
              <a:t>Load metrics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4D009B2-53D0-DF3E-D6DA-8A0C2F07F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7" y="52126"/>
            <a:ext cx="640241" cy="6294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61E2D2-2330-6F55-5F74-182C2AAB9297}"/>
              </a:ext>
            </a:extLst>
          </p:cNvPr>
          <p:cNvSpPr txBox="1"/>
          <p:nvPr/>
        </p:nvSpPr>
        <p:spPr>
          <a:xfrm>
            <a:off x="753538" y="536272"/>
            <a:ext cx="111288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Load data contain various metrics. The metric identifier is field UOM_CD (Unit of Measure Code)</a:t>
            </a:r>
          </a:p>
          <a:p>
            <a:r>
              <a:rPr lang="en-US" sz="1400" dirty="0"/>
              <a:t>The mostly used is ‘dollarized load’ with UOM_CD ‘REV’. But there are also following metrics used. Some of them are relevant only to 1 brand, some of them are used for all brands.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1C82D33-1A3B-9D05-9DFD-586924DB0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377471"/>
              </p:ext>
            </p:extLst>
          </p:nvPr>
        </p:nvGraphicFramePr>
        <p:xfrm>
          <a:off x="753538" y="1274936"/>
          <a:ext cx="10397825" cy="4077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2712">
                  <a:extLst>
                    <a:ext uri="{9D8B030D-6E8A-4147-A177-3AD203B41FA5}">
                      <a16:colId xmlns:a16="http://schemas.microsoft.com/office/drawing/2014/main" val="3439002383"/>
                    </a:ext>
                  </a:extLst>
                </a:gridCol>
                <a:gridCol w="1678209">
                  <a:extLst>
                    <a:ext uri="{9D8B030D-6E8A-4147-A177-3AD203B41FA5}">
                      <a16:colId xmlns:a16="http://schemas.microsoft.com/office/drawing/2014/main" val="2025047312"/>
                    </a:ext>
                  </a:extLst>
                </a:gridCol>
                <a:gridCol w="2341590">
                  <a:extLst>
                    <a:ext uri="{9D8B030D-6E8A-4147-A177-3AD203B41FA5}">
                      <a16:colId xmlns:a16="http://schemas.microsoft.com/office/drawing/2014/main" val="70053400"/>
                    </a:ext>
                  </a:extLst>
                </a:gridCol>
                <a:gridCol w="4425314">
                  <a:extLst>
                    <a:ext uri="{9D8B030D-6E8A-4147-A177-3AD203B41FA5}">
                      <a16:colId xmlns:a16="http://schemas.microsoft.com/office/drawing/2014/main" val="1731550379"/>
                    </a:ext>
                  </a:extLst>
                </a:gridCol>
              </a:tblGrid>
              <a:tr h="313616">
                <a:tc>
                  <a:txBody>
                    <a:bodyPr/>
                    <a:lstStyle/>
                    <a:p>
                      <a:pPr marR="203200" algn="l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b="1" dirty="0">
                          <a:effectLst/>
                        </a:rPr>
                        <a:t>  MEASURE</a:t>
                      </a:r>
                      <a:endParaRPr lang="en-US" sz="1050" b="1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7305" marR="203200" algn="l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b="1" dirty="0">
                          <a:effectLst/>
                        </a:rPr>
                        <a:t>PLATFORM / BRAND  </a:t>
                      </a:r>
                      <a:endParaRPr lang="en-US" sz="1050" b="1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8735" marR="203200" algn="l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b="1" dirty="0">
                          <a:effectLst/>
                        </a:rPr>
                        <a:t>IDENTIFIED BY</a:t>
                      </a:r>
                      <a:endParaRPr lang="en-US" sz="1050" b="1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03200" algn="l">
                        <a:spcBef>
                          <a:spcPts val="600"/>
                        </a:spcBef>
                        <a:buNone/>
                      </a:pPr>
                      <a:r>
                        <a:rPr lang="en-AU" sz="1000" b="1" dirty="0">
                          <a:effectLst/>
                        </a:rPr>
                        <a:t>COMMENTS</a:t>
                      </a:r>
                      <a:endParaRPr lang="en-US" sz="1050" b="1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6066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dirty="0">
                          <a:effectLst/>
                        </a:rPr>
                        <a:t>Quantity</a:t>
                      </a:r>
                      <a:endParaRPr lang="en-US" sz="105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730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dirty="0">
                          <a:effectLst/>
                        </a:rPr>
                        <a:t>ALL Platforms</a:t>
                      </a:r>
                      <a:endParaRPr lang="en-US" sz="105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>
                          <a:effectLst/>
                        </a:rPr>
                        <a:t>UOM_CD = ‘QTY'</a:t>
                      </a:r>
                      <a:endParaRPr lang="en-US" sz="105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03200">
                        <a:spcBef>
                          <a:spcPts val="600"/>
                        </a:spcBef>
                        <a:buNone/>
                      </a:pPr>
                      <a:r>
                        <a:rPr lang="en-AU" sz="1000">
                          <a:effectLst/>
                        </a:rPr>
                        <a:t>Represents order quantity</a:t>
                      </a:r>
                      <a:endParaRPr lang="en-US" sz="1050">
                        <a:effectLst/>
                      </a:endParaRPr>
                    </a:p>
                    <a:p>
                      <a:pPr marR="203200">
                        <a:spcBef>
                          <a:spcPts val="600"/>
                        </a:spcBef>
                        <a:buNone/>
                      </a:pPr>
                      <a:r>
                        <a:rPr lang="en-AU" sz="100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7847555"/>
                  </a:ext>
                </a:extLst>
              </a:tr>
              <a:tr h="138156">
                <a:tc>
                  <a:txBody>
                    <a:bodyPr/>
                    <a:lstStyle/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>
                          <a:effectLst/>
                        </a:rPr>
                        <a:t>Revenue</a:t>
                      </a:r>
                      <a:endParaRPr lang="en-US" sz="105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730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dirty="0">
                          <a:effectLst/>
                        </a:rPr>
                        <a:t>ALL Platforms</a:t>
                      </a:r>
                      <a:endParaRPr lang="en-US" sz="105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>
                          <a:effectLst/>
                        </a:rPr>
                        <a:t>UOM_CD = ‘REV'</a:t>
                      </a:r>
                      <a:endParaRPr lang="en-US" sz="105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03200">
                        <a:spcBef>
                          <a:spcPts val="600"/>
                        </a:spcBef>
                        <a:buNone/>
                      </a:pPr>
                      <a:r>
                        <a:rPr lang="en-AU" sz="1000">
                          <a:effectLst/>
                        </a:rPr>
                        <a:t>Represents estimated “dollarized” load</a:t>
                      </a:r>
                      <a:endParaRPr lang="en-US" sz="1050">
                        <a:effectLst/>
                      </a:endParaRPr>
                    </a:p>
                    <a:p>
                      <a:pPr marR="203200">
                        <a:spcBef>
                          <a:spcPts val="600"/>
                        </a:spcBef>
                        <a:buNone/>
                      </a:pPr>
                      <a:r>
                        <a:rPr lang="en-AU" sz="100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5930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dirty="0">
                          <a:effectLst/>
                        </a:rPr>
                        <a:t>Hardware Engines (Entitled Hours)</a:t>
                      </a:r>
                      <a:endParaRPr lang="en-US" sz="105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730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dirty="0">
                          <a:effectLst/>
                        </a:rPr>
                        <a:t>System Z</a:t>
                      </a:r>
                      <a:endParaRPr lang="en-US" sz="105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>
                          <a:effectLst/>
                        </a:rPr>
                        <a:t>UOM_CD = ‘ENH'</a:t>
                      </a:r>
                      <a:endParaRPr lang="en-US" sz="105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03200">
                        <a:spcBef>
                          <a:spcPts val="600"/>
                        </a:spcBef>
                        <a:buNone/>
                      </a:pPr>
                      <a:r>
                        <a:rPr lang="en-US" sz="1000" dirty="0"/>
                        <a:t>Represents the </a:t>
                      </a:r>
                      <a:r>
                        <a:rPr lang="en-US" sz="1000" b="0" dirty="0"/>
                        <a:t>total entitled CPU hours</a:t>
                      </a:r>
                      <a:r>
                        <a:rPr lang="en-AU" sz="1000" b="0" dirty="0">
                          <a:effectLst/>
                        </a:rPr>
                        <a:t>. </a:t>
                      </a:r>
                      <a:r>
                        <a:rPr lang="en-US" sz="1050" dirty="0"/>
                        <a:t>Important for </a:t>
                      </a:r>
                      <a:r>
                        <a:rPr lang="en-US" sz="1050" b="0" dirty="0"/>
                        <a:t>capacity planning </a:t>
                      </a:r>
                      <a:r>
                        <a:rPr lang="en-US" sz="1050" dirty="0"/>
                        <a:t>and </a:t>
                      </a:r>
                      <a:r>
                        <a:rPr lang="en-US" sz="1050" b="0" dirty="0"/>
                        <a:t>fair share analysis. </a:t>
                      </a:r>
                      <a:r>
                        <a:rPr lang="en-US" sz="1050" dirty="0"/>
                        <a:t>Used to measure how much processing time the partition is entitled to receive under PR/SM (Processor Resource/Systems Manager) rules.</a:t>
                      </a:r>
                      <a:endParaRPr lang="en-US" sz="1050" b="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152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dirty="0">
                          <a:effectLst/>
                        </a:rPr>
                        <a:t>Microcode Engines (Entitled MSUs)</a:t>
                      </a:r>
                      <a:endParaRPr lang="en-US" sz="105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730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dirty="0">
                          <a:effectLst/>
                        </a:rPr>
                        <a:t>System Z</a:t>
                      </a:r>
                      <a:endParaRPr lang="en-US" sz="105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>
                          <a:effectLst/>
                        </a:rPr>
                        <a:t>UOM_CD = 'ENM'</a:t>
                      </a:r>
                      <a:endParaRPr lang="en-US" sz="105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03200">
                        <a:spcBef>
                          <a:spcPts val="600"/>
                        </a:spcBef>
                        <a:buNone/>
                      </a:pPr>
                      <a:r>
                        <a:rPr lang="en-US" sz="1000" dirty="0"/>
                        <a:t>Refers to </a:t>
                      </a:r>
                      <a:r>
                        <a:rPr lang="en-US" sz="1000" b="0" dirty="0"/>
                        <a:t>Entitled Million Service Units</a:t>
                      </a:r>
                      <a:r>
                        <a:rPr lang="en-US" sz="1000" dirty="0"/>
                        <a:t>, which is the MSU capacity allocated to an LPAR based on its defined weight and share. </a:t>
                      </a:r>
                      <a:r>
                        <a:rPr lang="en-AU" sz="1000" dirty="0">
                          <a:effectLst/>
                        </a:rPr>
                        <a:t>Also known as "revenue" engines and only applies to upgrades.  Does not  require new manufacturing as the engine capacity was included in the original "box" shipment (</a:t>
                      </a:r>
                      <a:r>
                        <a:rPr lang="en-AU" sz="1000" dirty="0" err="1">
                          <a:effectLst/>
                        </a:rPr>
                        <a:t>ie</a:t>
                      </a:r>
                      <a:r>
                        <a:rPr lang="en-AU" sz="1000" dirty="0">
                          <a:effectLst/>
                        </a:rPr>
                        <a:t>. the "dormant" engines) </a:t>
                      </a:r>
                      <a:endParaRPr lang="en-US" sz="105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0049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>
                          <a:effectLst/>
                        </a:rPr>
                        <a:t>MIPS</a:t>
                      </a:r>
                      <a:endParaRPr lang="en-US" sz="105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730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dirty="0">
                          <a:effectLst/>
                        </a:rPr>
                        <a:t>System Z</a:t>
                      </a:r>
                      <a:endParaRPr lang="en-US" sz="105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>
                          <a:effectLst/>
                        </a:rPr>
                        <a:t>UOM_CD = 'MIP'</a:t>
                      </a:r>
                      <a:endParaRPr lang="en-US" sz="1050">
                        <a:effectLst/>
                      </a:endParaRPr>
                    </a:p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03200">
                        <a:spcBef>
                          <a:spcPts val="600"/>
                        </a:spcBef>
                        <a:buNone/>
                      </a:pPr>
                      <a:r>
                        <a:rPr lang="en-US" sz="1050" dirty="0"/>
                        <a:t>A measure of processing capacity, indicating how many millions of instructions a processor can execute per second.</a:t>
                      </a:r>
                      <a:endParaRPr lang="en-US" sz="105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484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dirty="0">
                          <a:effectLst/>
                        </a:rPr>
                        <a:t>CECS (Central Electronic Complex)</a:t>
                      </a:r>
                      <a:endParaRPr lang="en-US" sz="105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730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dirty="0">
                          <a:effectLst/>
                        </a:rPr>
                        <a:t>System Z</a:t>
                      </a:r>
                      <a:endParaRPr lang="en-US" sz="105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dirty="0">
                          <a:effectLst/>
                        </a:rPr>
                        <a:t>UOM_CD = 'CEC'</a:t>
                      </a:r>
                      <a:endParaRPr lang="en-US" sz="105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The </a:t>
                      </a:r>
                      <a:r>
                        <a:rPr lang="en-US" sz="1000" b="0" dirty="0"/>
                        <a:t>CEC</a:t>
                      </a:r>
                      <a:r>
                        <a:rPr lang="en-US" sz="1000" dirty="0"/>
                        <a:t> is the hardware unit that contains: </a:t>
                      </a:r>
                    </a:p>
                    <a:p>
                      <a:r>
                        <a:rPr lang="en-US" sz="1000" b="0" dirty="0"/>
                        <a:t>CPs (Central Processors) </a:t>
                      </a:r>
                      <a:r>
                        <a:rPr lang="en-US" sz="1000" dirty="0"/>
                        <a:t>– General-purpose engines.</a:t>
                      </a:r>
                    </a:p>
                    <a:p>
                      <a:r>
                        <a:rPr lang="en-US" sz="1000" b="0" dirty="0"/>
                        <a:t>Specialty engines </a:t>
                      </a:r>
                      <a:r>
                        <a:rPr lang="en-US" sz="1000" dirty="0"/>
                        <a:t>– </a:t>
                      </a:r>
                      <a:r>
                        <a:rPr lang="en-US" sz="1000" dirty="0" err="1"/>
                        <a:t>zIIP</a:t>
                      </a:r>
                      <a:r>
                        <a:rPr lang="en-US" sz="1000" dirty="0"/>
                        <a:t>, IFL, </a:t>
                      </a:r>
                      <a:r>
                        <a:rPr lang="en-US" sz="1000" dirty="0" err="1"/>
                        <a:t>zAAP</a:t>
                      </a:r>
                      <a:r>
                        <a:rPr lang="en-US" sz="1000" dirty="0"/>
                        <a:t> (for specific workloads).</a:t>
                      </a:r>
                    </a:p>
                    <a:p>
                      <a:r>
                        <a:rPr lang="en-US" sz="1000" b="0" dirty="0"/>
                        <a:t>Memory and I/O subsystems.</a:t>
                      </a:r>
                    </a:p>
                    <a:p>
                      <a:pPr marR="203200">
                        <a:spcBef>
                          <a:spcPts val="600"/>
                        </a:spcBef>
                        <a:buNone/>
                      </a:pPr>
                      <a:r>
                        <a:rPr lang="en-AU" sz="1000" dirty="0">
                          <a:effectLst/>
                        </a:rPr>
                        <a:t> </a:t>
                      </a:r>
                      <a:endParaRPr lang="en-US" sz="105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0233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735" marR="203200" algn="l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dirty="0">
                          <a:effectLst/>
                        </a:rPr>
                        <a:t>Gigabytes</a:t>
                      </a:r>
                      <a:endParaRPr lang="en-US" sz="105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7305" marR="203200" algn="l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>
                          <a:effectLst/>
                        </a:rPr>
                        <a:t>Storage Only</a:t>
                      </a:r>
                      <a:endParaRPr lang="en-US" sz="105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8735" marR="203200" algn="l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>
                          <a:effectLst/>
                        </a:rPr>
                        <a:t>UOM_CD = 'GIG'</a:t>
                      </a:r>
                      <a:endParaRPr lang="en-US" sz="105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910" marR="203200" algn="l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dirty="0">
                          <a:effectLst/>
                        </a:rPr>
                        <a:t>Storage capacity  (1 terabyte = 1,000 gigabytes)</a:t>
                      </a:r>
                    </a:p>
                    <a:p>
                      <a:pPr marL="41910" marR="203200" algn="l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1000" dirty="0">
                          <a:effectLst/>
                        </a:rPr>
                        <a:t> </a:t>
                      </a:r>
                      <a:endParaRPr lang="en-US" sz="105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100589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599C206-B2C9-46E9-687C-1513A5BA3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751803"/>
              </p:ext>
            </p:extLst>
          </p:nvPr>
        </p:nvGraphicFramePr>
        <p:xfrm>
          <a:off x="753537" y="5397525"/>
          <a:ext cx="10397825" cy="8141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2712">
                  <a:extLst>
                    <a:ext uri="{9D8B030D-6E8A-4147-A177-3AD203B41FA5}">
                      <a16:colId xmlns:a16="http://schemas.microsoft.com/office/drawing/2014/main" val="2595104963"/>
                    </a:ext>
                  </a:extLst>
                </a:gridCol>
                <a:gridCol w="1678209">
                  <a:extLst>
                    <a:ext uri="{9D8B030D-6E8A-4147-A177-3AD203B41FA5}">
                      <a16:colId xmlns:a16="http://schemas.microsoft.com/office/drawing/2014/main" val="4082596216"/>
                    </a:ext>
                  </a:extLst>
                </a:gridCol>
                <a:gridCol w="2341590">
                  <a:extLst>
                    <a:ext uri="{9D8B030D-6E8A-4147-A177-3AD203B41FA5}">
                      <a16:colId xmlns:a16="http://schemas.microsoft.com/office/drawing/2014/main" val="236437408"/>
                    </a:ext>
                  </a:extLst>
                </a:gridCol>
                <a:gridCol w="4425314">
                  <a:extLst>
                    <a:ext uri="{9D8B030D-6E8A-4147-A177-3AD203B41FA5}">
                      <a16:colId xmlns:a16="http://schemas.microsoft.com/office/drawing/2014/main" val="285793932"/>
                    </a:ext>
                  </a:extLst>
                </a:gridCol>
              </a:tblGrid>
              <a:tr h="319405">
                <a:tc>
                  <a:txBody>
                    <a:bodyPr/>
                    <a:lstStyle/>
                    <a:p>
                      <a:pPr marL="38735" marR="203200" algn="ctr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900" b="1">
                          <a:effectLst/>
                        </a:rPr>
                        <a:t>MEASURE</a:t>
                      </a:r>
                      <a:endParaRPr lang="en-US" sz="1000" b="1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7305" marR="133985" algn="ctr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900" b="1">
                          <a:effectLst/>
                        </a:rPr>
                        <a:t>BRAND  </a:t>
                      </a:r>
                      <a:endParaRPr lang="en-US" sz="1000" b="1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8735" marR="203200" algn="ctr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900" b="1">
                          <a:effectLst/>
                        </a:rPr>
                        <a:t>IDENTIFIED BY</a:t>
                      </a:r>
                      <a:endParaRPr lang="en-US" sz="1000" b="1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03200">
                        <a:spcBef>
                          <a:spcPts val="600"/>
                        </a:spcBef>
                        <a:buNone/>
                      </a:pPr>
                      <a:r>
                        <a:rPr lang="en-AU" sz="900" b="1" dirty="0">
                          <a:effectLst/>
                        </a:rPr>
                        <a:t>         COMMENTS</a:t>
                      </a:r>
                      <a:endParaRPr lang="en-US" sz="1000" b="1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1849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900">
                          <a:effectLst/>
                        </a:rPr>
                        <a:t>List Value</a:t>
                      </a:r>
                      <a:endParaRPr lang="en-US" sz="100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7305" marR="133985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900" dirty="0">
                          <a:effectLst/>
                        </a:rPr>
                        <a:t>ALL Platforms</a:t>
                      </a:r>
                      <a:endParaRPr lang="en-US" sz="100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900" dirty="0">
                          <a:effectLst/>
                        </a:rPr>
                        <a:t>UOM_CD = ‘LV’</a:t>
                      </a:r>
                      <a:endParaRPr lang="en-US" sz="100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03200">
                        <a:spcBef>
                          <a:spcPts val="600"/>
                        </a:spcBef>
                        <a:buNone/>
                      </a:pPr>
                      <a:r>
                        <a:rPr lang="en-AU" sz="900" dirty="0">
                          <a:effectLst/>
                        </a:rPr>
                        <a:t>Represents fully configured List Value</a:t>
                      </a:r>
                      <a:endParaRPr lang="en-US" sz="1000" dirty="0">
                        <a:effectLst/>
                      </a:endParaRPr>
                    </a:p>
                    <a:p>
                      <a:pPr marR="203200">
                        <a:spcBef>
                          <a:spcPts val="600"/>
                        </a:spcBef>
                        <a:buNone/>
                      </a:pPr>
                      <a:r>
                        <a:rPr lang="en-AU" sz="9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6592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900">
                          <a:effectLst/>
                        </a:rPr>
                        <a:t>Invoice</a:t>
                      </a:r>
                      <a:endParaRPr lang="en-US" sz="100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7305" marR="133985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900" dirty="0">
                          <a:effectLst/>
                        </a:rPr>
                        <a:t>ALL Platforms</a:t>
                      </a:r>
                      <a:endParaRPr lang="en-US" sz="100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8735" marR="203200">
                        <a:lnSpc>
                          <a:spcPts val="12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AU" sz="900" dirty="0">
                          <a:effectLst/>
                        </a:rPr>
                        <a:t>UOM_CD = ‘INV</a:t>
                      </a:r>
                      <a:endParaRPr lang="en-US" sz="100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203200">
                        <a:spcBef>
                          <a:spcPts val="600"/>
                        </a:spcBef>
                        <a:buNone/>
                      </a:pPr>
                      <a:r>
                        <a:rPr lang="en-AU" sz="900" dirty="0">
                          <a:effectLst/>
                        </a:rPr>
                        <a:t>Invoice information, when available from source </a:t>
                      </a:r>
                      <a:endParaRPr lang="en-US" sz="100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5327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281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BE1AB-BA36-16B5-CFA5-E3624AC8D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440F924-BF9C-DF8D-F348-C71902D40345}"/>
              </a:ext>
            </a:extLst>
          </p:cNvPr>
          <p:cNvSpPr txBox="1"/>
          <p:nvPr/>
        </p:nvSpPr>
        <p:spPr>
          <a:xfrm>
            <a:off x="355605" y="338667"/>
            <a:ext cx="11431950" cy="4139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Metrics in Load Data (example on 3 orders A3R3AN, A3NWBS, WO9TCW)</a:t>
            </a:r>
          </a:p>
          <a:p>
            <a:endParaRPr lang="en-US" sz="1100" dirty="0"/>
          </a:p>
          <a:p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DB2 query</a:t>
            </a:r>
            <a:r>
              <a:rPr lang="en-US" sz="1400" dirty="0"/>
              <a:t>			 	There is also possibility to see the metrics </a:t>
            </a:r>
            <a:r>
              <a:rPr lang="en-US" sz="1400" b="1" dirty="0"/>
              <a:t>when only UOM_CD = ‘REV’ is used</a:t>
            </a:r>
          </a:p>
          <a:p>
            <a:r>
              <a:rPr lang="en-US" sz="1400" dirty="0"/>
              <a:t>					</a:t>
            </a:r>
          </a:p>
          <a:p>
            <a:r>
              <a:rPr lang="en-US" sz="1400" dirty="0"/>
              <a:t>					UOM_CD </a:t>
            </a:r>
            <a:r>
              <a:rPr lang="en-US" sz="1400" b="1" dirty="0"/>
              <a:t>= ‘LV’ </a:t>
            </a:r>
            <a:r>
              <a:rPr lang="en-US" sz="1400" dirty="0"/>
              <a:t>is also found in column </a:t>
            </a:r>
            <a:r>
              <a:rPr lang="en-US" sz="1400" b="1" dirty="0"/>
              <a:t>LV_AMT </a:t>
            </a:r>
            <a:r>
              <a:rPr lang="en-US" sz="1400" dirty="0"/>
              <a:t>&amp; UOM_CD = ‘REV’</a:t>
            </a:r>
          </a:p>
          <a:p>
            <a:r>
              <a:rPr lang="en-US" sz="1400" dirty="0"/>
              <a:t>					UOM_CD = </a:t>
            </a:r>
            <a:r>
              <a:rPr lang="en-US" sz="1400" b="1" dirty="0"/>
              <a:t>‘INV’ </a:t>
            </a:r>
            <a:r>
              <a:rPr lang="en-US" sz="1400" dirty="0"/>
              <a:t>is also found in column </a:t>
            </a:r>
            <a:r>
              <a:rPr lang="en-US" sz="1400" b="1" dirty="0"/>
              <a:t>INVC_AMT </a:t>
            </a:r>
            <a:r>
              <a:rPr lang="en-US" sz="1400" dirty="0"/>
              <a:t>&amp; UOM_CD = ‘REV’</a:t>
            </a:r>
          </a:p>
          <a:p>
            <a:r>
              <a:rPr lang="en-US" sz="1400" dirty="0"/>
              <a:t>					UOM_CD = </a:t>
            </a:r>
            <a:r>
              <a:rPr lang="en-US" sz="1400" b="1" dirty="0"/>
              <a:t>‘QTY’</a:t>
            </a:r>
            <a:r>
              <a:rPr lang="en-US" sz="1400" dirty="0"/>
              <a:t> is also found in column </a:t>
            </a:r>
            <a:r>
              <a:rPr lang="en-US" sz="1400" b="1" dirty="0"/>
              <a:t>ORD_QTY </a:t>
            </a:r>
            <a:r>
              <a:rPr lang="en-US" sz="1400" dirty="0"/>
              <a:t>&amp; UOM_CD = ‘REV’</a:t>
            </a:r>
          </a:p>
          <a:p>
            <a:endParaRPr lang="en-US" sz="1100" dirty="0"/>
          </a:p>
          <a:p>
            <a:r>
              <a:rPr lang="en-US" sz="1400" dirty="0"/>
              <a:t>				        </a:t>
            </a:r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Cognos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Daily Load File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200" dirty="0"/>
              <a:t>In </a:t>
            </a:r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Load cube (</a:t>
            </a:r>
            <a:r>
              <a:rPr lang="en-US" sz="1600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Loadtgts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) </a:t>
            </a:r>
            <a:r>
              <a:rPr lang="en-US" sz="1200" dirty="0"/>
              <a:t>they are specified in dimension ‘Unit of Measure’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B045DD-F8C0-C108-6B6C-84CAF8B7A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17" y="4386365"/>
            <a:ext cx="4252328" cy="161558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56A91A-41CE-D7DC-E35D-7B8E4E8878AA}"/>
              </a:ext>
            </a:extLst>
          </p:cNvPr>
          <p:cNvSpPr/>
          <p:nvPr/>
        </p:nvSpPr>
        <p:spPr>
          <a:xfrm>
            <a:off x="1250281" y="4735472"/>
            <a:ext cx="883920" cy="1643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450463-0A97-5324-F70F-391825DE3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023" y="3894446"/>
            <a:ext cx="3376240" cy="241667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FAD5BB-D494-BAD2-007B-53B67C27F3E2}"/>
              </a:ext>
            </a:extLst>
          </p:cNvPr>
          <p:cNvCxnSpPr/>
          <p:nvPr/>
        </p:nvCxnSpPr>
        <p:spPr>
          <a:xfrm>
            <a:off x="2933699" y="4851529"/>
            <a:ext cx="309033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03D89111-B06D-B552-B563-F6C44BA4D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50" y="1092056"/>
            <a:ext cx="3337784" cy="24554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70FE19-0FA2-408A-7620-F0FAC8C35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269" y="2370339"/>
            <a:ext cx="5654530" cy="9221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8DA7835-E674-E0C9-A883-B0339EE1FFF2}"/>
              </a:ext>
            </a:extLst>
          </p:cNvPr>
          <p:cNvSpPr txBox="1"/>
          <p:nvPr/>
        </p:nvSpPr>
        <p:spPr>
          <a:xfrm>
            <a:off x="7691967" y="2177114"/>
            <a:ext cx="38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8292EF-9DB2-46DC-42FE-4519E8C3AA00}"/>
              </a:ext>
            </a:extLst>
          </p:cNvPr>
          <p:cNvSpPr txBox="1"/>
          <p:nvPr/>
        </p:nvSpPr>
        <p:spPr>
          <a:xfrm>
            <a:off x="1798257" y="1508981"/>
            <a:ext cx="38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D1FE01-3FC4-0000-43C1-89E86FFC05BE}"/>
              </a:ext>
            </a:extLst>
          </p:cNvPr>
          <p:cNvSpPr txBox="1"/>
          <p:nvPr/>
        </p:nvSpPr>
        <p:spPr>
          <a:xfrm>
            <a:off x="1810844" y="1969845"/>
            <a:ext cx="38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81F60F-BCDB-BE52-C2AB-1B62202D5E13}"/>
              </a:ext>
            </a:extLst>
          </p:cNvPr>
          <p:cNvSpPr txBox="1"/>
          <p:nvPr/>
        </p:nvSpPr>
        <p:spPr>
          <a:xfrm>
            <a:off x="4709987" y="1456302"/>
            <a:ext cx="38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2.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557E80-46A3-6234-114B-7C00E7030C83}"/>
              </a:ext>
            </a:extLst>
          </p:cNvPr>
          <p:cNvSpPr txBox="1"/>
          <p:nvPr/>
        </p:nvSpPr>
        <p:spPr>
          <a:xfrm>
            <a:off x="4720155" y="1685537"/>
            <a:ext cx="38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3.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A7A7F5-2927-A314-DE70-9361D585F625}"/>
              </a:ext>
            </a:extLst>
          </p:cNvPr>
          <p:cNvSpPr txBox="1"/>
          <p:nvPr/>
        </p:nvSpPr>
        <p:spPr>
          <a:xfrm>
            <a:off x="9460900" y="2173772"/>
            <a:ext cx="38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3.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EAF95C-7742-C819-FC44-19D59CBF2FE7}"/>
              </a:ext>
            </a:extLst>
          </p:cNvPr>
          <p:cNvSpPr txBox="1"/>
          <p:nvPr/>
        </p:nvSpPr>
        <p:spPr>
          <a:xfrm>
            <a:off x="8622990" y="2165905"/>
            <a:ext cx="38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2.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D3FA4D-A577-677C-DA04-12B8C3A6EBAB}"/>
              </a:ext>
            </a:extLst>
          </p:cNvPr>
          <p:cNvSpPr txBox="1"/>
          <p:nvPr/>
        </p:nvSpPr>
        <p:spPr>
          <a:xfrm>
            <a:off x="1829405" y="3078635"/>
            <a:ext cx="38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2.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999A2A-A4BF-9AFE-319F-D3DF988943D8}"/>
              </a:ext>
            </a:extLst>
          </p:cNvPr>
          <p:cNvSpPr txBox="1"/>
          <p:nvPr/>
        </p:nvSpPr>
        <p:spPr>
          <a:xfrm>
            <a:off x="1804004" y="1354596"/>
            <a:ext cx="38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3.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42F686-C1FB-A53E-20F4-3053D1548476}"/>
              </a:ext>
            </a:extLst>
          </p:cNvPr>
          <p:cNvSpPr txBox="1"/>
          <p:nvPr/>
        </p:nvSpPr>
        <p:spPr>
          <a:xfrm>
            <a:off x="1827396" y="2447751"/>
            <a:ext cx="38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3.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2408A3-38CC-0478-39FB-276D96687ACC}"/>
              </a:ext>
            </a:extLst>
          </p:cNvPr>
          <p:cNvSpPr txBox="1"/>
          <p:nvPr/>
        </p:nvSpPr>
        <p:spPr>
          <a:xfrm>
            <a:off x="1798257" y="1813240"/>
            <a:ext cx="38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3.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09CBAA-8298-8EEA-0037-25B9ED2E1954}"/>
              </a:ext>
            </a:extLst>
          </p:cNvPr>
          <p:cNvSpPr txBox="1"/>
          <p:nvPr/>
        </p:nvSpPr>
        <p:spPr>
          <a:xfrm>
            <a:off x="4703221" y="1244000"/>
            <a:ext cx="38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66429E6-A4FF-B929-A42D-CADFC661A758}"/>
              </a:ext>
            </a:extLst>
          </p:cNvPr>
          <p:cNvSpPr/>
          <p:nvPr/>
        </p:nvSpPr>
        <p:spPr>
          <a:xfrm>
            <a:off x="2025493" y="1094829"/>
            <a:ext cx="599174" cy="16916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1577853-02FA-D669-CF3F-25CA79B093ED}"/>
              </a:ext>
            </a:extLst>
          </p:cNvPr>
          <p:cNvSpPr/>
          <p:nvPr/>
        </p:nvSpPr>
        <p:spPr>
          <a:xfrm>
            <a:off x="6476999" y="2560805"/>
            <a:ext cx="3563865" cy="1454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92FAD35-4C49-1345-9DBA-8CED1DC02EA6}"/>
              </a:ext>
            </a:extLst>
          </p:cNvPr>
          <p:cNvCxnSpPr/>
          <p:nvPr/>
        </p:nvCxnSpPr>
        <p:spPr>
          <a:xfrm>
            <a:off x="414866" y="3660832"/>
            <a:ext cx="112183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6EC3DE8-8AE0-5EFC-E792-CC20E09038DA}"/>
              </a:ext>
            </a:extLst>
          </p:cNvPr>
          <p:cNvCxnSpPr>
            <a:cxnSpLocks/>
          </p:cNvCxnSpPr>
          <p:nvPr/>
        </p:nvCxnSpPr>
        <p:spPr>
          <a:xfrm>
            <a:off x="8635626" y="1967128"/>
            <a:ext cx="0" cy="1538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8191752-C9E0-F975-D770-0B972E2B4B86}"/>
              </a:ext>
            </a:extLst>
          </p:cNvPr>
          <p:cNvSpPr/>
          <p:nvPr/>
        </p:nvSpPr>
        <p:spPr>
          <a:xfrm>
            <a:off x="4597400" y="804333"/>
            <a:ext cx="6578599" cy="11655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2067227-22F4-7A3F-84BC-9A5E7162925F}"/>
              </a:ext>
            </a:extLst>
          </p:cNvPr>
          <p:cNvCxnSpPr>
            <a:cxnSpLocks/>
          </p:cNvCxnSpPr>
          <p:nvPr/>
        </p:nvCxnSpPr>
        <p:spPr>
          <a:xfrm flipH="1">
            <a:off x="4191000" y="1186222"/>
            <a:ext cx="4064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0636C55-BE78-2BA7-EFC2-CB7855556709}"/>
              </a:ext>
            </a:extLst>
          </p:cNvPr>
          <p:cNvSpPr/>
          <p:nvPr/>
        </p:nvSpPr>
        <p:spPr>
          <a:xfrm>
            <a:off x="4703221" y="1244000"/>
            <a:ext cx="300577" cy="75794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9D403F-641E-7949-33B8-16217A7FCEF7}"/>
              </a:ext>
            </a:extLst>
          </p:cNvPr>
          <p:cNvSpPr/>
          <p:nvPr/>
        </p:nvSpPr>
        <p:spPr>
          <a:xfrm>
            <a:off x="7622870" y="2130063"/>
            <a:ext cx="2236560" cy="3605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E7B3134-B397-000F-62C5-3CC27725B19A}"/>
              </a:ext>
            </a:extLst>
          </p:cNvPr>
          <p:cNvSpPr/>
          <p:nvPr/>
        </p:nvSpPr>
        <p:spPr>
          <a:xfrm>
            <a:off x="1808833" y="1293732"/>
            <a:ext cx="300577" cy="209268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6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B5192A9-BFFB-3A98-3EBE-CC2392ECEF98}"/>
              </a:ext>
            </a:extLst>
          </p:cNvPr>
          <p:cNvSpPr txBox="1"/>
          <p:nvPr/>
        </p:nvSpPr>
        <p:spPr>
          <a:xfrm>
            <a:off x="380025" y="348223"/>
            <a:ext cx="1143195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Metrics in Load Data (example on 3 orders A3R3AN, A3NWBS, WO9TCW)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EPM</a:t>
            </a:r>
          </a:p>
          <a:p>
            <a:r>
              <a:rPr lang="en-US" sz="1400" dirty="0"/>
              <a:t>	</a:t>
            </a:r>
          </a:p>
          <a:p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7731D6-95EC-4B88-B6FE-CE47A35D8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6999" y="235959"/>
            <a:ext cx="3078705" cy="6020322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C3CB33-EE10-7785-A17D-1A2DF9CC30B5}"/>
              </a:ext>
            </a:extLst>
          </p:cNvPr>
          <p:cNvSpPr/>
          <p:nvPr/>
        </p:nvSpPr>
        <p:spPr>
          <a:xfrm>
            <a:off x="9651999" y="4846320"/>
            <a:ext cx="1639147" cy="140996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93FC8BA-D137-D230-4634-474F6A7D1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14" y="2428995"/>
            <a:ext cx="9367986" cy="2118544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0095063-E8F8-D336-12D0-2E5C86B2253B}"/>
              </a:ext>
            </a:extLst>
          </p:cNvPr>
          <p:cNvSpPr/>
          <p:nvPr/>
        </p:nvSpPr>
        <p:spPr>
          <a:xfrm>
            <a:off x="1473189" y="2878665"/>
            <a:ext cx="8085678" cy="1791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18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45432</TotalTime>
  <Words>582</Words>
  <Application>Microsoft Office PowerPoint</Application>
  <PresentationFormat>Widescreen</PresentationFormat>
  <Paragraphs>98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IBM Plex Sans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Magdalena Sabotova</dc:creator>
  <cp:lastModifiedBy>Magdalena Sabotova</cp:lastModifiedBy>
  <cp:revision>38</cp:revision>
  <dcterms:created xsi:type="dcterms:W3CDTF">2025-08-13T10:38:18Z</dcterms:created>
  <dcterms:modified xsi:type="dcterms:W3CDTF">2025-12-01T11:52:15Z</dcterms:modified>
</cp:coreProperties>
</file>