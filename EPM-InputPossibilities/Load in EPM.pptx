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257" r:id="rId3"/>
    <p:sldId id="26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5E2FF"/>
    <a:srgbClr val="99CCFF"/>
    <a:srgbClr val="D5E3FF"/>
    <a:srgbClr val="6699FF"/>
    <a:srgbClr val="E5F2FF"/>
    <a:srgbClr val="BDD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357CF-1859-4A43-8A0E-5DB44C048D7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7AA6D-C1BB-4A73-9DA0-3994D600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4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49B2-A3E0-A9A7-F46A-F40903469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716BE-3AAC-940D-8685-B6FC2EC1B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94D5F-390D-66A9-5B96-FD5A8742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F7E40-7C73-1F86-458A-5A0CD650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464B8-74FC-F61F-5F1E-9AE030C3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2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CD08-C78F-2F62-D70A-B3E5FA88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8C865-B32C-0114-42E6-A6D2742E5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8C7DC-EB15-AE6C-9E88-2D00A325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55694-E17C-CD71-FF38-5A2F913B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8328E-386E-4B76-898F-97F93F65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57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1443-CA0A-9A58-A478-0E195DE3C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14C4D-DFAB-7115-D533-069AAE1F9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A654A-962D-0491-5439-A0E6B92EC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FB8CB-8CEF-844D-65E1-06F2437D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65E90-22C1-3406-D0BB-78FF80F5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C024-55BD-ADDA-DCCD-E0C1F6FA9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B50E3-0EC4-0FAA-8514-71280718F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0DB3C-ED2B-B03E-CF74-C5972AB3F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3C189-4E21-04E5-F118-C6750F52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F0B3D-EC83-3356-E9BC-4852A33F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1631F-C2E7-AFC5-2B40-62233595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98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FEB7-3F5A-BF95-7CE4-E5A4826D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83418-4E70-5462-4F42-60D081A07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23276-E661-56DD-73D3-AA64BC33B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A9FEF-EC47-2950-2597-05E37319B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42384-C6D9-D565-FCF0-331ABD9EE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744278-35E4-054C-4F71-E8EBF448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E5AD21-55D0-A612-C020-8D7F5DFE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ADA33-D421-952A-28B2-65C2988D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8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2DF5-1E80-F0F6-6F0A-C63C01B0E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DC7DF-CEC6-D2F1-29B1-E6B2B585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5002A-A563-8666-009B-59580A13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21A3E-F4F9-BB7E-C53E-71D420A0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6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DF920-3CF8-B86D-C64D-9AF01BEFA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6243A-91A8-FD66-C2D3-AA9B02290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36F61-BE43-D4BF-FC4C-ADFEE619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62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831A-E69D-C081-8471-C6C771D12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11C18-F926-586B-790B-D0DC1341D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BCFCE-8973-0161-9563-6F8588DF8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62734-0974-A2B4-E771-619E2F88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1A0DA-70DF-6B7A-F788-B97A6B06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C13CC-96B1-B312-98F5-6B10AA5E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3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A9B6-F1DC-7F75-8622-62580F4E9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1F823-09D9-1892-7F44-D1F2946F7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789C2-F408-C92E-12DB-1DC3366BA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15573-461C-E589-C165-D4542AEB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1B9FE-0B59-A603-186D-951CBB22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45162-9D92-A22B-BEAD-A2F6757B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3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881C-EB75-602F-CEEE-4904F6D6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43F2C-B387-8071-32B8-85397018E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979E4-D544-572F-0CCB-CDC542BE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A3B7-5775-B3B5-FABE-2B5479EC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07AB1-E0FE-BFBB-2ED0-597EBE34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BD156-963C-5D38-DE60-9D49A8157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794B2-0D31-3A73-9AFD-F874CA282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61EF7-11E1-747A-994D-88FB6C93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EA07A-72B6-2CEC-4B2E-D868E4B4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3C3F4-EE23-32B3-D130-ADE0BBD4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64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dhoc Dec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 descr="cover-wallpaper.jpg"/>
          <p:cNvPicPr>
            <a:picLocks noChangeAspect="1"/>
          </p:cNvPicPr>
          <p:nvPr userDrawn="1"/>
        </p:nvPicPr>
        <p:blipFill>
          <a:blip r:embed="rId2" cstate="print"/>
          <a:srcRect b="13901"/>
          <a:stretch>
            <a:fillRect/>
          </a:stretch>
        </p:blipFill>
        <p:spPr bwMode="auto">
          <a:xfrm>
            <a:off x="0" y="3276600"/>
            <a:ext cx="12192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 userDrawn="1"/>
        </p:nvSpPr>
        <p:spPr>
          <a:xfrm rot="10800000">
            <a:off x="0" y="3121470"/>
            <a:ext cx="12192000" cy="3812732"/>
          </a:xfrm>
          <a:prstGeom prst="rect">
            <a:avLst/>
          </a:prstGeom>
          <a:gradFill>
            <a:gsLst>
              <a:gs pos="34000">
                <a:srgbClr val="FFFFFF">
                  <a:alpha val="50000"/>
                </a:srgbClr>
              </a:gs>
              <a:gs pos="100000">
                <a:srgbClr val="FFFFFF"/>
              </a:gs>
              <a:gs pos="4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7" tIns="45719" rIns="91367" bIns="45719"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8" name="Title 1"/>
          <p:cNvSpPr txBox="1">
            <a:spLocks/>
          </p:cNvSpPr>
          <p:nvPr userDrawn="1"/>
        </p:nvSpPr>
        <p:spPr bwMode="auto">
          <a:xfrm>
            <a:off x="0" y="6651629"/>
            <a:ext cx="12192000" cy="282573"/>
          </a:xfrm>
          <a:prstGeom prst="rect">
            <a:avLst/>
          </a:prstGeom>
          <a:solidFill>
            <a:srgbClr val="4F81BD"/>
          </a:solidFill>
          <a:ln w="9525">
            <a:noFill/>
            <a:miter lim="800000"/>
            <a:headEnd/>
            <a:tailEnd/>
          </a:ln>
        </p:spPr>
        <p:txBody>
          <a:bodyPr wrap="square" lIns="107901" tIns="18000" rIns="35999" bIns="18000" anchor="b">
            <a:spAutoFit/>
          </a:bodyPr>
          <a:lstStyle/>
          <a:p>
            <a:pPr marL="0" marR="0" lvl="0" indent="0" defTabSz="9135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black">
          <a:xfrm>
            <a:off x="4995338" y="6626426"/>
            <a:ext cx="2186517" cy="318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67" tIns="45719" rIns="91367" bIns="4571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1467" i="0" dirty="0">
                <a:solidFill>
                  <a:srgbClr val="FFFFFF"/>
                </a:solidFill>
                <a:latin typeface="IBM Plex Sans" panose="020B0503050203000203" pitchFamily="34" charset="0"/>
                <a:ea typeface="Calibri" charset="0"/>
                <a:cs typeface="Calibri" charset="0"/>
              </a:rPr>
              <a:t>IBM Confidential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893813" y="1773240"/>
            <a:ext cx="10363200" cy="2133600"/>
          </a:xfrm>
          <a:ln w="9525"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99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sz="3600" b="1">
                <a:solidFill>
                  <a:srgbClr val="002060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Calibri" charset="0"/>
              </a:defRPr>
            </a:lvl1pPr>
          </a:lstStyle>
          <a:p>
            <a:pPr lvl="0"/>
            <a:r>
              <a:rPr lang="en-US" noProof="0" dirty="0"/>
              <a:t>Deck Title</a:t>
            </a: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914400" y="4061970"/>
            <a:ext cx="8534400" cy="457200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>
                <a:solidFill>
                  <a:srgbClr val="777777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Calibri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Date</a:t>
            </a:r>
          </a:p>
          <a:p>
            <a:pPr lvl="0"/>
            <a:endParaRPr lang="en-US" noProof="0" dirty="0"/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0" y="163193"/>
            <a:ext cx="11074400" cy="282573"/>
          </a:xfrm>
          <a:prstGeom prst="rect">
            <a:avLst/>
          </a:prstGeom>
          <a:solidFill>
            <a:srgbClr val="4F81BD"/>
          </a:solidFill>
          <a:ln w="9525">
            <a:noFill/>
            <a:miter lim="800000"/>
            <a:headEnd/>
            <a:tailEnd/>
          </a:ln>
        </p:spPr>
        <p:txBody>
          <a:bodyPr wrap="square" lIns="107901" tIns="18000" rIns="35999" bIns="18000" anchor="b">
            <a:spAutoFit/>
          </a:bodyPr>
          <a:lstStyle/>
          <a:p>
            <a:pPr marL="0" marR="0" lvl="0" indent="0" defTabSz="9135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 panose="020B0503050203000203" pitchFamily="34" charset="0"/>
                <a:ea typeface="Calibri" charset="0"/>
                <a:cs typeface="Calibri" charset="0"/>
              </a:rPr>
              <a:t>IBM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 panose="020B0503050203000203" pitchFamily="34" charset="0"/>
                <a:ea typeface="Calibri" charset="0"/>
                <a:cs typeface="Calibri" charset="0"/>
              </a:rPr>
              <a:t>Infrastructure</a:t>
            </a:r>
          </a:p>
        </p:txBody>
      </p:sp>
      <p:pic>
        <p:nvPicPr>
          <p:cNvPr id="10" name="Picture 46" descr="blue-tri-color-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57013" y="172541"/>
            <a:ext cx="630239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5046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D27832-28FD-20E7-CF3C-E8D3CE99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6CF35-172B-00C8-1E16-3BC84E133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87002-5381-95AA-AE70-A131B07CC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904FBA-BDB5-4CD1-A230-C6E3A51930C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B7E80-1209-5FAB-BF8B-840D63CDE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4BAED-1C73-F06B-7B1A-2BF437007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4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roduction.epm-web-platform.dal.app.cirrus.ibm.com/app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ibm.biz/HW-Loa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B7A37-CE6C-483F-B7AD-14B735A855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09325" y="0"/>
            <a:ext cx="1082675" cy="18891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47FAF-2D64-6B5A-FCFA-DDF2A2CE14B7}"/>
              </a:ext>
            </a:extLst>
          </p:cNvPr>
          <p:cNvSpPr txBox="1"/>
          <p:nvPr/>
        </p:nvSpPr>
        <p:spPr>
          <a:xfrm>
            <a:off x="558800" y="5909733"/>
            <a:ext cx="329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education series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211263-D16B-C2E8-7772-20E8AB0E401A}"/>
              </a:ext>
            </a:extLst>
          </p:cNvPr>
          <p:cNvSpPr txBox="1"/>
          <p:nvPr/>
        </p:nvSpPr>
        <p:spPr>
          <a:xfrm>
            <a:off x="1837267" y="2641600"/>
            <a:ext cx="8517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Load in EPM</a:t>
            </a:r>
          </a:p>
          <a:p>
            <a:endParaRPr lang="en-AU" sz="4000" i="1" u="sn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433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3E8D12C-94BC-D413-F6DF-199B2FF754B4}"/>
              </a:ext>
            </a:extLst>
          </p:cNvPr>
          <p:cNvSpPr txBox="1"/>
          <p:nvPr/>
        </p:nvSpPr>
        <p:spPr>
          <a:xfrm>
            <a:off x="211667" y="148908"/>
            <a:ext cx="395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</a:t>
            </a:r>
            <a:r>
              <a:rPr lang="en-US" b="1" u="sng" dirty="0"/>
              <a:t>Load in EPM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4D009B2-53D0-DF3E-D6DA-8A0C2F07F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7" y="52126"/>
            <a:ext cx="640241" cy="6294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61E2D2-2330-6F55-5F74-182C2AAB9297}"/>
              </a:ext>
            </a:extLst>
          </p:cNvPr>
          <p:cNvSpPr txBox="1"/>
          <p:nvPr/>
        </p:nvSpPr>
        <p:spPr>
          <a:xfrm>
            <a:off x="753538" y="536272"/>
            <a:ext cx="11128862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One way of reporting Load data is via EPM.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are ingested into EPM from 4 sources with 3 separate ingestion runs: 	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b="1" dirty="0" err="1"/>
              <a:t>HWLoad</a:t>
            </a:r>
            <a:r>
              <a:rPr lang="en-US" sz="1600" b="1" dirty="0"/>
              <a:t> Order Adjustments </a:t>
            </a:r>
            <a:r>
              <a:rPr lang="en-US" sz="1600" dirty="0"/>
              <a:t>from MEASUREMENT (FNP.WW_MEAS) table, </a:t>
            </a:r>
          </a:p>
          <a:p>
            <a:pPr lvl="1"/>
            <a:r>
              <a:rPr lang="en-US" sz="1600" dirty="0"/>
              <a:t>			    	    ORDER (FNP.WW_ORD_CUR) table,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b="1" dirty="0" err="1"/>
              <a:t>HWLoad</a:t>
            </a:r>
            <a:r>
              <a:rPr lang="en-US" sz="1600" b="1" dirty="0"/>
              <a:t> streams </a:t>
            </a:r>
            <a:r>
              <a:rPr lang="en-US" sz="1600" dirty="0"/>
              <a:t>from 	    Stream cube &amp;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b="1" dirty="0" err="1"/>
              <a:t>HWLoad</a:t>
            </a:r>
            <a:r>
              <a:rPr lang="en-US" sz="1600" b="1" dirty="0"/>
              <a:t> Tracks </a:t>
            </a:r>
            <a:r>
              <a:rPr lang="en-US" sz="1600" dirty="0"/>
              <a:t>from 	     	    Tracks cube.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are updated daily (workdays, exceptionally weekend updates, scheduled in Load Calendar)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Update starts at 6AM EST, takes about 2 </a:t>
            </a:r>
            <a:r>
              <a:rPr lang="en-US" sz="1600" dirty="0" err="1"/>
              <a:t>hrs</a:t>
            </a:r>
            <a:r>
              <a:rPr lang="en-US" sz="1600" dirty="0"/>
              <a:t> to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There is no special access needed (Load is part of the basic EPM package)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Load run status can be checked on EPM Status page </a:t>
            </a:r>
            <a:r>
              <a:rPr lang="en-US" sz="1600" dirty="0">
                <a:hlinkClick r:id="rId3"/>
              </a:rPr>
              <a:t>https://production.epm-web-platform.dal.app.cirrus.ibm.com/app/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Link to the HW Load Report: </a:t>
            </a:r>
            <a:r>
              <a:rPr lang="en-US" u="sng" dirty="0">
                <a:hlinkClick r:id="rId4"/>
              </a:rPr>
              <a:t>https://ibm.biz/HW-Load</a:t>
            </a:r>
            <a:endParaRPr lang="en-US" u="sng" dirty="0"/>
          </a:p>
          <a:p>
            <a:r>
              <a:rPr lang="en-US" sz="1600" dirty="0"/>
              <a:t>Link to the HW Load Tracks: </a:t>
            </a:r>
            <a:r>
              <a:rPr lang="en-US" u="sng" dirty="0">
                <a:solidFill>
                  <a:schemeClr val="accent5">
                    <a:lumMod val="75000"/>
                  </a:schemeClr>
                </a:solidFill>
              </a:rPr>
              <a:t>ibm.biz/HW-Tracks</a:t>
            </a:r>
          </a:p>
          <a:p>
            <a:endParaRPr lang="en-US" sz="1600" u="sng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/>
              <a:t>More details about HW Load Report in EPM can be found in the recorded showcase: https://ibm.ent.box.com/folder/351759678411</a:t>
            </a:r>
          </a:p>
          <a:p>
            <a:endParaRPr lang="en-US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A07064-736A-D52F-4C88-72B25CD6C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908" y="3429000"/>
            <a:ext cx="5354159" cy="167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81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793C2-7A1B-9F05-CD37-08C814031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07736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Bridging of fields from Load DB2 to Load EPM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C8508-0E52-77FE-3B5B-556FE716B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56263"/>
            <a:ext cx="5257800" cy="31454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FFFD27-CF73-6AA4-1638-E7D2F123C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936" y="756706"/>
            <a:ext cx="5458664" cy="572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18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35342</TotalTime>
  <Words>223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IBM Plex Sans</vt:lpstr>
      <vt:lpstr>Wingdings</vt:lpstr>
      <vt:lpstr>Office Theme</vt:lpstr>
      <vt:lpstr>PowerPoint Presentation</vt:lpstr>
      <vt:lpstr>PowerPoint Presentation</vt:lpstr>
      <vt:lpstr>Bridging of fields from Load DB2 to Load EPM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Magdalena Sabotova</dc:creator>
  <cp:lastModifiedBy>Magdalena Sabotova</cp:lastModifiedBy>
  <cp:revision>34</cp:revision>
  <dcterms:created xsi:type="dcterms:W3CDTF">2025-08-13T10:38:18Z</dcterms:created>
  <dcterms:modified xsi:type="dcterms:W3CDTF">2025-11-24T11:40:26Z</dcterms:modified>
</cp:coreProperties>
</file>