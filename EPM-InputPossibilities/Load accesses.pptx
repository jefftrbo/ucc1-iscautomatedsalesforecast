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0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5E2FF"/>
    <a:srgbClr val="99CCFF"/>
    <a:srgbClr val="D5E3FF"/>
    <a:srgbClr val="6699FF"/>
    <a:srgbClr val="E5F2FF"/>
    <a:srgbClr val="BDD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49B2-A3E0-A9A7-F46A-F40903469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716BE-3AAC-940D-8685-B6FC2EC1B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94D5F-390D-66A9-5B96-FD5A8742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F7E40-7C73-1F86-458A-5A0CD650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64B8-74FC-F61F-5F1E-9AE030C3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2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CD08-C78F-2F62-D70A-B3E5FA88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8C865-B32C-0114-42E6-A6D2742E5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8C7DC-EB15-AE6C-9E88-2D00A325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55694-E17C-CD71-FF38-5A2F913B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8328E-386E-4B76-898F-97F93F65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57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1443-CA0A-9A58-A478-0E195DE3C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14C4D-DFAB-7115-D533-069AAE1F9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A654A-962D-0491-5439-A0E6B92EC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FB8CB-8CEF-844D-65E1-06F2437D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65E90-22C1-3406-D0BB-78FF80F5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C024-55BD-ADDA-DCCD-E0C1F6FA9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50E3-0EC4-0FAA-8514-71280718F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0DB3C-ED2B-B03E-CF74-C5972AB3F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3C189-4E21-04E5-F118-C6750F52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F0B3D-EC83-3356-E9BC-4852A33F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1631F-C2E7-AFC5-2B40-62233595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9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FEB7-3F5A-BF95-7CE4-E5A4826D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83418-4E70-5462-4F42-60D081A07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23276-E661-56DD-73D3-AA64BC33B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A9FEF-EC47-2950-2597-05E37319B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42384-C6D9-D565-FCF0-331ABD9EE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744278-35E4-054C-4F71-E8EBF448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5AD21-55D0-A612-C020-8D7F5DFE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ADA33-D421-952A-28B2-65C2988D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8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2DF5-1E80-F0F6-6F0A-C63C01B0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DC7DF-CEC6-D2F1-29B1-E6B2B585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5002A-A563-8666-009B-59580A13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21A3E-F4F9-BB7E-C53E-71D420A0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6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DF920-3CF8-B86D-C64D-9AF01BEFA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6243A-91A8-FD66-C2D3-AA9B02290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36F61-BE43-D4BF-FC4C-ADFEE619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62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831A-E69D-C081-8471-C6C771D1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1C18-F926-586B-790B-D0DC1341D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BCFCE-8973-0161-9563-6F8588DF8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62734-0974-A2B4-E771-619E2F88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1A0DA-70DF-6B7A-F788-B97A6B06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C13CC-96B1-B312-98F5-6B10AA5E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3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A9B6-F1DC-7F75-8622-62580F4E9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1F823-09D9-1892-7F44-D1F2946F7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789C2-F408-C92E-12DB-1DC3366BA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15573-461C-E589-C165-D4542AEB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1B9FE-0B59-A603-186D-951CBB22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45162-9D92-A22B-BEAD-A2F6757B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3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881C-EB75-602F-CEEE-4904F6D6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43F2C-B387-8071-32B8-85397018E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979E4-D544-572F-0CCB-CDC542BE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A3B7-5775-B3B5-FABE-2B5479EC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07AB1-E0FE-BFBB-2ED0-597EBE34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BD156-963C-5D38-DE60-9D49A8157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794B2-0D31-3A73-9AFD-F874CA282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61EF7-11E1-747A-994D-88FB6C93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EA07A-72B6-2CEC-4B2E-D868E4B4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3C3F4-EE23-32B3-D130-ADE0BBD4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64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dhoc Dec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 descr="cover-wallpaper.jpg"/>
          <p:cNvPicPr>
            <a:picLocks noChangeAspect="1"/>
          </p:cNvPicPr>
          <p:nvPr userDrawn="1"/>
        </p:nvPicPr>
        <p:blipFill>
          <a:blip r:embed="rId2" cstate="print"/>
          <a:srcRect b="13901"/>
          <a:stretch>
            <a:fillRect/>
          </a:stretch>
        </p:blipFill>
        <p:spPr bwMode="auto">
          <a:xfrm>
            <a:off x="0" y="3276600"/>
            <a:ext cx="12192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 userDrawn="1"/>
        </p:nvSpPr>
        <p:spPr>
          <a:xfrm rot="10800000">
            <a:off x="0" y="3121470"/>
            <a:ext cx="12192000" cy="3812732"/>
          </a:xfrm>
          <a:prstGeom prst="rect">
            <a:avLst/>
          </a:prstGeom>
          <a:gradFill>
            <a:gsLst>
              <a:gs pos="34000">
                <a:srgbClr val="FFFFFF">
                  <a:alpha val="50000"/>
                </a:srgbClr>
              </a:gs>
              <a:gs pos="100000">
                <a:srgbClr val="FFFFFF"/>
              </a:gs>
              <a:gs pos="4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7" tIns="45719" rIns="91367" bIns="45719"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8" name="Title 1"/>
          <p:cNvSpPr txBox="1">
            <a:spLocks/>
          </p:cNvSpPr>
          <p:nvPr userDrawn="1"/>
        </p:nvSpPr>
        <p:spPr bwMode="auto">
          <a:xfrm>
            <a:off x="0" y="6651629"/>
            <a:ext cx="12192000" cy="282573"/>
          </a:xfrm>
          <a:prstGeom prst="rect">
            <a:avLst/>
          </a:prstGeom>
          <a:solidFill>
            <a:srgbClr val="4F81BD"/>
          </a:solidFill>
          <a:ln w="9525">
            <a:noFill/>
            <a:miter lim="800000"/>
            <a:headEnd/>
            <a:tailEnd/>
          </a:ln>
        </p:spPr>
        <p:txBody>
          <a:bodyPr wrap="square" lIns="107901" tIns="18000" rIns="35999" bIns="18000" anchor="b">
            <a:spAutoFit/>
          </a:bodyPr>
          <a:lstStyle/>
          <a:p>
            <a:pPr marL="0" marR="0" lvl="0" indent="0" defTabSz="9135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black">
          <a:xfrm>
            <a:off x="4995338" y="6626426"/>
            <a:ext cx="2186517" cy="318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67" tIns="45719" rIns="91367" bIns="4571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1467" i="0" dirty="0">
                <a:solidFill>
                  <a:srgbClr val="FFFFFF"/>
                </a:solidFill>
                <a:latin typeface="IBM Plex Sans" panose="020B0503050203000203" pitchFamily="34" charset="0"/>
                <a:ea typeface="Calibri" charset="0"/>
                <a:cs typeface="Calibri" charset="0"/>
              </a:rPr>
              <a:t>IBM Confidential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893813" y="1773240"/>
            <a:ext cx="10363200" cy="2133600"/>
          </a:xfrm>
          <a:ln w="9525"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99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3600" b="1">
                <a:solidFill>
                  <a:srgbClr val="002060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Calibri" charset="0"/>
              </a:defRPr>
            </a:lvl1pPr>
          </a:lstStyle>
          <a:p>
            <a:pPr lvl="0"/>
            <a:r>
              <a:rPr lang="en-US" noProof="0" dirty="0"/>
              <a:t>Deck Title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914400" y="4061970"/>
            <a:ext cx="8534400" cy="4572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>
                <a:solidFill>
                  <a:srgbClr val="777777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Calibri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Date</a:t>
            </a:r>
          </a:p>
          <a:p>
            <a:pPr lvl="0"/>
            <a:endParaRPr lang="en-US" noProof="0" dirty="0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0" y="163193"/>
            <a:ext cx="11074400" cy="282573"/>
          </a:xfrm>
          <a:prstGeom prst="rect">
            <a:avLst/>
          </a:prstGeom>
          <a:solidFill>
            <a:srgbClr val="4F81BD"/>
          </a:solidFill>
          <a:ln w="9525">
            <a:noFill/>
            <a:miter lim="800000"/>
            <a:headEnd/>
            <a:tailEnd/>
          </a:ln>
        </p:spPr>
        <p:txBody>
          <a:bodyPr wrap="square" lIns="107901" tIns="18000" rIns="35999" bIns="18000" anchor="b">
            <a:spAutoFit/>
          </a:bodyPr>
          <a:lstStyle/>
          <a:p>
            <a:pPr marL="0" marR="0" lvl="0" indent="0" defTabSz="9135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 panose="020B0503050203000203" pitchFamily="34" charset="0"/>
                <a:ea typeface="Calibri" charset="0"/>
                <a:cs typeface="Calibri" charset="0"/>
              </a:rPr>
              <a:t>IBM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 panose="020B0503050203000203" pitchFamily="34" charset="0"/>
                <a:ea typeface="Calibri" charset="0"/>
                <a:cs typeface="Calibri" charset="0"/>
              </a:rPr>
              <a:t>Infrastructure</a:t>
            </a:r>
          </a:p>
        </p:txBody>
      </p:sp>
      <p:pic>
        <p:nvPicPr>
          <p:cNvPr id="10" name="Picture 46" descr="blue-tri-color-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57013" y="172541"/>
            <a:ext cx="630239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5046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D27832-28FD-20E7-CF3C-E8D3CE99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6CF35-172B-00C8-1E16-3BC84E133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87002-5381-95AA-AE70-A131B07CC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04FBA-BDB5-4CD1-A230-C6E3A51930C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B7E80-1209-5FAB-BF8B-840D63CDE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4BAED-1C73-F06B-7B1A-2BF437007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4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3.ibm.com/w3publisher/ww-load-end-user-community/access/db2-access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w3.ibm.com/w3publisher/ww-load-end-user-community/access/password-info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3.ibm.com/w3publisher/epm-planning-analytics/specialized/ibm-systems/loadtgts-access-process" TargetMode="External"/><Relationship Id="rId5" Type="http://schemas.openxmlformats.org/officeDocument/2006/relationships/hyperlink" Target="https://w3.ibm.com/epm/use-epm/get-access-to-epm" TargetMode="External"/><Relationship Id="rId4" Type="http://schemas.openxmlformats.org/officeDocument/2006/relationships/hyperlink" Target="https://urldefense.proofpoint.com/v2/url?u=https-3A__ibm.biz_HW-2DLoad&amp;d=DwQFAg&amp;c=jf_iaSHvJObTbx-siA1ZOg&amp;r=1yIF9oPPTbeBqFiSe-XfBg&amp;m=r0hC8HIBdzdhpMVl28N3GGl13gAt9UIRWAoZ16u5ZJUzysgrWrygJljmXD00g6_Y&amp;s=dU5hdvH_lcmVjSoFyb0YfbhLSsudvGFSryDE_IMGBPg&amp;e=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3.ibm.com/w3publisher/ww-load-end-user-community/access/password-info" TargetMode="External"/><Relationship Id="rId2" Type="http://schemas.openxmlformats.org/officeDocument/2006/relationships/hyperlink" Target="https://ibm-support.saviyntcloud.com/ECMv6/request/applicationReques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B7A37-CE6C-483F-B7AD-14B735A855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09325" y="0"/>
            <a:ext cx="1082675" cy="18891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47FAF-2D64-6B5A-FCFA-DDF2A2CE14B7}"/>
              </a:ext>
            </a:extLst>
          </p:cNvPr>
          <p:cNvSpPr txBox="1"/>
          <p:nvPr/>
        </p:nvSpPr>
        <p:spPr>
          <a:xfrm>
            <a:off x="558800" y="5909733"/>
            <a:ext cx="329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education series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211263-D16B-C2E8-7772-20E8AB0E401A}"/>
              </a:ext>
            </a:extLst>
          </p:cNvPr>
          <p:cNvSpPr txBox="1"/>
          <p:nvPr/>
        </p:nvSpPr>
        <p:spPr>
          <a:xfrm>
            <a:off x="2709333" y="2767280"/>
            <a:ext cx="6615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L</a:t>
            </a:r>
            <a:r>
              <a:rPr lang="sk-SK" sz="4000" b="1" dirty="0"/>
              <a:t>oad accesses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134433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39A539D-E567-95DB-7BB0-F56BC92AAE24}"/>
              </a:ext>
            </a:extLst>
          </p:cNvPr>
          <p:cNvSpPr txBox="1"/>
          <p:nvPr/>
        </p:nvSpPr>
        <p:spPr>
          <a:xfrm>
            <a:off x="641475" y="618067"/>
            <a:ext cx="11262657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Load </a:t>
            </a:r>
            <a:r>
              <a:rPr lang="sk-SK" b="1" dirty="0"/>
              <a:t>Accesses</a:t>
            </a:r>
            <a:endParaRPr lang="en-US" b="1" dirty="0"/>
          </a:p>
          <a:p>
            <a:endParaRPr lang="en-US" sz="1500" dirty="0"/>
          </a:p>
          <a:p>
            <a:r>
              <a:rPr lang="sk-SK" sz="1400" dirty="0"/>
              <a:t>All necessar</a:t>
            </a:r>
            <a:r>
              <a:rPr lang="en-US" sz="1400" dirty="0"/>
              <a:t>y information regarding accesses for </a:t>
            </a:r>
            <a:r>
              <a:rPr lang="en-US" sz="1400" dirty="0" err="1"/>
              <a:t>HWLoad</a:t>
            </a:r>
            <a:r>
              <a:rPr lang="en-US" sz="1400" dirty="0"/>
              <a:t> (in TM1 and DB2) with detailed step by step information are available on </a:t>
            </a:r>
            <a:r>
              <a:rPr lang="en-US" sz="1400" dirty="0">
                <a:hlinkClick r:id="rId2"/>
              </a:rPr>
              <a:t>Load Publisher page </a:t>
            </a:r>
            <a:r>
              <a:rPr lang="en-US" sz="1400" dirty="0"/>
              <a:t>(example for DB2 access on following slides) 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HWLOAD	</a:t>
            </a:r>
            <a:r>
              <a:rPr lang="en-US" sz="1400" dirty="0"/>
              <a:t>For Hwload access you first you need to </a:t>
            </a:r>
            <a:r>
              <a:rPr lang="en-GB" sz="1400" dirty="0"/>
              <a:t>create an </a:t>
            </a:r>
            <a:r>
              <a:rPr lang="en-GB" sz="1400" b="1" dirty="0">
                <a:solidFill>
                  <a:srgbClr val="0000FF"/>
                </a:solidFill>
              </a:rPr>
              <a:t>MVS ID </a:t>
            </a:r>
            <a:r>
              <a:rPr lang="en-GB" sz="1400" dirty="0"/>
              <a:t>for </a:t>
            </a:r>
            <a:r>
              <a:rPr lang="en-GB" sz="1400" b="1" dirty="0"/>
              <a:t>SBRYSL1 </a:t>
            </a:r>
            <a:r>
              <a:rPr lang="en-GB" sz="1400" dirty="0"/>
              <a:t>on IRT – instructions how to create MVS are </a:t>
            </a:r>
            <a:r>
              <a:rPr lang="en-GB" sz="1400" dirty="0">
                <a:hlinkClick r:id="rId2"/>
              </a:rPr>
              <a:t>here</a:t>
            </a:r>
            <a:endParaRPr lang="en-US" sz="1400" dirty="0"/>
          </a:p>
          <a:p>
            <a:pPr marL="118872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It also includes instructions how to </a:t>
            </a:r>
            <a:r>
              <a:rPr lang="en-US" sz="1400" b="1" dirty="0"/>
              <a:t>change MVS password </a:t>
            </a:r>
            <a:r>
              <a:rPr lang="en-US" sz="1400" dirty="0"/>
              <a:t>before it expires or </a:t>
            </a:r>
          </a:p>
          <a:p>
            <a:pPr marL="118872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What to do </a:t>
            </a:r>
            <a:r>
              <a:rPr lang="en-US" sz="1400" dirty="0" err="1"/>
              <a:t>i</a:t>
            </a:r>
            <a:r>
              <a:rPr lang="en-GB" sz="1400" dirty="0"/>
              <a:t>f your </a:t>
            </a:r>
            <a:r>
              <a:rPr lang="en-GB" sz="1400" b="1" dirty="0"/>
              <a:t>MVS ID has been Revoked </a:t>
            </a:r>
            <a:r>
              <a:rPr lang="en-GB" sz="1400" dirty="0"/>
              <a:t>or </a:t>
            </a:r>
            <a:r>
              <a:rPr lang="en-GB" sz="1400" b="1" dirty="0"/>
              <a:t>blocked,</a:t>
            </a:r>
            <a:r>
              <a:rPr lang="en-GB" sz="1400" dirty="0"/>
              <a:t> and you need to request a Password / </a:t>
            </a:r>
            <a:r>
              <a:rPr lang="en-GB" sz="1400" dirty="0" err="1"/>
              <a:t>PassPhrase</a:t>
            </a:r>
            <a:r>
              <a:rPr lang="en-GB" sz="1400" dirty="0"/>
              <a:t> Reset</a:t>
            </a:r>
            <a:endParaRPr lang="en-US" sz="1400" dirty="0"/>
          </a:p>
          <a:p>
            <a:pPr>
              <a:spcBef>
                <a:spcPts val="1200"/>
              </a:spcBef>
            </a:pPr>
            <a:r>
              <a:rPr lang="en-US" sz="1400" dirty="0"/>
              <a:t>	Step by step instructions how to get </a:t>
            </a:r>
            <a:r>
              <a:rPr lang="en-US" sz="1400" b="1" dirty="0">
                <a:solidFill>
                  <a:srgbClr val="0000FF"/>
                </a:solidFill>
              </a:rPr>
              <a:t>DB2 access </a:t>
            </a:r>
            <a:r>
              <a:rPr lang="en-US" sz="1400" dirty="0"/>
              <a:t>are also available on </a:t>
            </a:r>
            <a:r>
              <a:rPr lang="en-GB" sz="1400" dirty="0" err="1">
                <a:hlinkClick r:id="rId3"/>
              </a:rPr>
              <a:t>HWload</a:t>
            </a:r>
            <a:r>
              <a:rPr lang="en-GB" sz="1400" dirty="0">
                <a:hlinkClick r:id="rId3"/>
              </a:rPr>
              <a:t> Publisher page / DB2 access</a:t>
            </a:r>
            <a:endParaRPr lang="en-GB" sz="1400" dirty="0"/>
          </a:p>
          <a:p>
            <a:pPr marL="365760"/>
            <a:r>
              <a:rPr lang="en-GB" sz="1400" dirty="0"/>
              <a:t>	DB2 access will allow you to get customer/order level details from DB2 tables (e.g. FNP.WW_ORD_CUR) through QMF Workstation, 	Power Excel, Power BI or SPSS. </a:t>
            </a:r>
          </a:p>
          <a:p>
            <a:pPr marL="365760"/>
            <a:endParaRPr lang="en-GB" sz="1400" dirty="0"/>
          </a:p>
          <a:p>
            <a:pPr marL="365760"/>
            <a:r>
              <a:rPr lang="en-GB" sz="1400" b="1" dirty="0"/>
              <a:t>	IMPORTANT</a:t>
            </a:r>
            <a:r>
              <a:rPr lang="en-GB" sz="1400" dirty="0"/>
              <a:t>: If you want to get </a:t>
            </a:r>
            <a:r>
              <a:rPr lang="en-GB" sz="1400" b="1" dirty="0"/>
              <a:t>final quarterly report on WD1 </a:t>
            </a:r>
            <a:r>
              <a:rPr lang="en-GB" sz="1400" dirty="0"/>
              <a:t>you need to have </a:t>
            </a:r>
          </a:p>
          <a:p>
            <a:pPr marL="822960" lvl="1"/>
            <a:r>
              <a:rPr lang="en-GB" sz="1400" dirty="0"/>
              <a:t>		1) </a:t>
            </a:r>
            <a:r>
              <a:rPr lang="en-GB" sz="1400" u="sng" dirty="0"/>
              <a:t>Blackout </a:t>
            </a:r>
            <a:r>
              <a:rPr lang="en-GB" sz="1400" dirty="0"/>
              <a:t>DB2 access (access level $WWLSPC2 ) and </a:t>
            </a:r>
          </a:p>
          <a:p>
            <a:pPr marL="822960" lvl="1"/>
            <a:r>
              <a:rPr lang="en-GB" sz="1400" dirty="0"/>
              <a:t>		2) </a:t>
            </a:r>
            <a:r>
              <a:rPr lang="en-GB" sz="1400" u="sng" dirty="0"/>
              <a:t>Active DB2 password </a:t>
            </a:r>
            <a:r>
              <a:rPr lang="en-GB" sz="1400" dirty="0"/>
              <a:t>(not expired, not revoked) </a:t>
            </a:r>
            <a:endParaRPr lang="en-US" sz="1400" dirty="0"/>
          </a:p>
          <a:p>
            <a:pPr>
              <a:spcBef>
                <a:spcPts val="1200"/>
              </a:spcBef>
            </a:pPr>
            <a:r>
              <a:rPr lang="en-GB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EPM	</a:t>
            </a:r>
            <a:r>
              <a:rPr lang="en-GB" sz="1400" dirty="0"/>
              <a:t>No special access is required to be able to see </a:t>
            </a:r>
            <a:r>
              <a:rPr lang="en-GB" sz="1400" dirty="0">
                <a:hlinkClick r:id="rId4"/>
              </a:rPr>
              <a:t>HW Load Dashboard</a:t>
            </a:r>
            <a:r>
              <a:rPr lang="en-GB" sz="1400" dirty="0"/>
              <a:t>. </a:t>
            </a:r>
          </a:p>
          <a:p>
            <a:pPr marL="365760"/>
            <a:r>
              <a:rPr lang="en-GB" sz="1400" dirty="0"/>
              <a:t>	Instructions how to request </a:t>
            </a:r>
            <a:r>
              <a:rPr lang="en-GB" sz="1400" b="1" dirty="0">
                <a:solidFill>
                  <a:srgbClr val="0000FF"/>
                </a:solidFill>
              </a:rPr>
              <a:t>access to EPM</a:t>
            </a:r>
            <a:r>
              <a:rPr lang="en-GB" sz="1400" dirty="0"/>
              <a:t>: </a:t>
            </a:r>
            <a:r>
              <a:rPr lang="en-GB" sz="1400" dirty="0">
                <a:hlinkClick r:id="rId5"/>
              </a:rPr>
              <a:t>Get Access to EPM</a:t>
            </a:r>
            <a:endParaRPr lang="en-GB" sz="1400" dirty="0"/>
          </a:p>
          <a:p>
            <a:pPr>
              <a:spcBef>
                <a:spcPts val="1200"/>
              </a:spcBef>
            </a:pPr>
            <a:r>
              <a:rPr lang="en-GB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Cubes</a:t>
            </a:r>
            <a:r>
              <a:rPr lang="en-GB" sz="1400" dirty="0"/>
              <a:t>	Instruction to get access to three </a:t>
            </a:r>
            <a:r>
              <a:rPr lang="en-GB" sz="1400" b="1" dirty="0" err="1">
                <a:solidFill>
                  <a:srgbClr val="0000FF"/>
                </a:solidFill>
              </a:rPr>
              <a:t>Loadtgts</a:t>
            </a:r>
            <a:r>
              <a:rPr lang="en-GB" sz="1400" b="1" dirty="0">
                <a:solidFill>
                  <a:srgbClr val="0000FF"/>
                </a:solidFill>
              </a:rPr>
              <a:t>  cubes </a:t>
            </a:r>
            <a:r>
              <a:rPr lang="en-GB" sz="1400" dirty="0"/>
              <a:t>in TM1 (</a:t>
            </a:r>
            <a:r>
              <a:rPr lang="en-GB" sz="1400" dirty="0" err="1"/>
              <a:t>Loadtgts</a:t>
            </a:r>
            <a:r>
              <a:rPr lang="en-GB" sz="1400" dirty="0"/>
              <a:t>, </a:t>
            </a:r>
            <a:r>
              <a:rPr lang="en-GB" sz="1400" dirty="0" err="1"/>
              <a:t>Streamload</a:t>
            </a:r>
            <a:r>
              <a:rPr lang="en-GB" sz="1400" dirty="0"/>
              <a:t>, Tks_Tgts) are </a:t>
            </a:r>
            <a:r>
              <a:rPr lang="en-GB" sz="1400" dirty="0">
                <a:hlinkClick r:id="rId6"/>
              </a:rPr>
              <a:t>here</a:t>
            </a:r>
            <a:r>
              <a:rPr lang="en-GB" sz="1400" dirty="0"/>
              <a:t> </a:t>
            </a:r>
          </a:p>
          <a:p>
            <a:pPr marL="1188720" lvl="1" indent="-342900">
              <a:buFont typeface="Arial" panose="020B0604020202020204" pitchFamily="34" charset="0"/>
              <a:buChar char="•"/>
            </a:pPr>
            <a:r>
              <a:rPr lang="en-GB" sz="1400" b="1" dirty="0" err="1"/>
              <a:t>Loadtgts</a:t>
            </a:r>
            <a:r>
              <a:rPr lang="en-GB" sz="1400" dirty="0"/>
              <a:t> (firm and unfirm </a:t>
            </a:r>
            <a:r>
              <a:rPr lang="en-GB" sz="1400" dirty="0" err="1"/>
              <a:t>HWload</a:t>
            </a:r>
            <a:r>
              <a:rPr lang="en-GB" sz="1400" dirty="0"/>
              <a:t>), </a:t>
            </a:r>
          </a:p>
          <a:p>
            <a:pPr marL="1188720" lvl="1" indent="-342900">
              <a:buFont typeface="Arial" panose="020B0604020202020204" pitchFamily="34" charset="0"/>
              <a:buChar char="•"/>
            </a:pPr>
            <a:r>
              <a:rPr lang="en-GB" sz="1400" b="1" dirty="0" err="1"/>
              <a:t>Streamload</a:t>
            </a:r>
            <a:r>
              <a:rPr lang="en-GB" sz="1400" dirty="0"/>
              <a:t> (</a:t>
            </a:r>
            <a:r>
              <a:rPr lang="en-GB" sz="1400" dirty="0" err="1"/>
              <a:t>nonHW</a:t>
            </a:r>
            <a:r>
              <a:rPr lang="en-GB" sz="1400" dirty="0"/>
              <a:t> part, like Transactional and annuity) </a:t>
            </a:r>
          </a:p>
          <a:p>
            <a:pPr marL="1188720" lvl="1" indent="-342900">
              <a:buFont typeface="Arial" panose="020B0604020202020204" pitchFamily="34" charset="0"/>
              <a:buChar char="•"/>
            </a:pPr>
            <a:r>
              <a:rPr lang="en-GB" sz="1400" b="1" dirty="0"/>
              <a:t>Tks_Tgts </a:t>
            </a:r>
            <a:r>
              <a:rPr lang="en-GB" sz="1400" dirty="0"/>
              <a:t>– tracks targets</a:t>
            </a:r>
          </a:p>
          <a:p>
            <a:endParaRPr lang="en-US" sz="1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7DB922-C963-1AA9-DF14-C54D374072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476" y="143933"/>
            <a:ext cx="558058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72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A014F-4CEF-DE4F-62E0-95E3C34A8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3E44848-16E3-02FA-CADB-707FD737776A}"/>
              </a:ext>
            </a:extLst>
          </p:cNvPr>
          <p:cNvSpPr txBox="1"/>
          <p:nvPr/>
        </p:nvSpPr>
        <p:spPr>
          <a:xfrm>
            <a:off x="408868" y="435108"/>
            <a:ext cx="6121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DB2 Access step by step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DD5B77-0B81-987A-BCCB-E2059E0AC359}"/>
              </a:ext>
            </a:extLst>
          </p:cNvPr>
          <p:cNvSpPr/>
          <p:nvPr/>
        </p:nvSpPr>
        <p:spPr>
          <a:xfrm>
            <a:off x="349598" y="403689"/>
            <a:ext cx="11675757" cy="3693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39910-C104-C60B-F0A3-02AC83FA1875}"/>
              </a:ext>
            </a:extLst>
          </p:cNvPr>
          <p:cNvSpPr txBox="1"/>
          <p:nvPr/>
        </p:nvSpPr>
        <p:spPr>
          <a:xfrm>
            <a:off x="240030" y="796505"/>
            <a:ext cx="6838103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GB" sz="1200" dirty="0"/>
              <a:t>Go to </a:t>
            </a:r>
            <a:r>
              <a:rPr lang="en-GB" sz="1200" dirty="0" err="1">
                <a:hlinkClick r:id="rId2"/>
              </a:rPr>
              <a:t>AccessHub</a:t>
            </a:r>
            <a:endParaRPr lang="en-GB" sz="1200" dirty="0"/>
          </a:p>
          <a:p>
            <a:pPr marL="228600" indent="-228600">
              <a:spcBef>
                <a:spcPts val="600"/>
              </a:spcBef>
              <a:buFont typeface="+mj-lt"/>
              <a:buAutoNum type="arabicParenR"/>
            </a:pPr>
            <a:r>
              <a:rPr lang="en-GB" sz="1200" dirty="0"/>
              <a:t>Choose “Request Access for Self”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/>
            </a:pPr>
            <a:r>
              <a:rPr lang="en-GB" sz="1200" dirty="0"/>
              <a:t>In Select Applications enter: "</a:t>
            </a:r>
            <a:r>
              <a:rPr lang="en-GB" sz="1200" dirty="0" err="1"/>
              <a:t>wwload</a:t>
            </a:r>
            <a:r>
              <a:rPr lang="en-GB" sz="1200" dirty="0"/>
              <a:t>" you will see the following 2 choices:</a:t>
            </a:r>
          </a:p>
          <a:p>
            <a:r>
              <a:rPr lang="en-GB" sz="1200" dirty="0"/>
              <a:t>	</a:t>
            </a:r>
            <a:r>
              <a:rPr lang="en-GB" sz="1200" dirty="0" err="1"/>
              <a:t>WorldWide</a:t>
            </a:r>
            <a:r>
              <a:rPr lang="en-GB" sz="1200" dirty="0"/>
              <a:t> Load DB2 Query / Reporting Access(RACF)</a:t>
            </a:r>
          </a:p>
          <a:p>
            <a:r>
              <a:rPr lang="en-GB" sz="1200" dirty="0"/>
              <a:t>	</a:t>
            </a:r>
            <a:r>
              <a:rPr lang="en-GB" sz="1200" dirty="0" err="1"/>
              <a:t>WorldWide</a:t>
            </a:r>
            <a:r>
              <a:rPr lang="en-GB" sz="1200" dirty="0"/>
              <a:t> Load DB2 Query / Reporting Access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4"/>
            </a:pPr>
            <a:r>
              <a:rPr lang="en-GB" sz="1200" dirty="0"/>
              <a:t>Click on the pencil next to ==&gt; </a:t>
            </a:r>
            <a:r>
              <a:rPr lang="en-GB" sz="1200" b="1" dirty="0" err="1"/>
              <a:t>WorldWide</a:t>
            </a:r>
            <a:r>
              <a:rPr lang="en-GB" sz="1200" b="1" dirty="0"/>
              <a:t> Load DB2 Query / Reporting Access(RACF)</a:t>
            </a:r>
          </a:p>
          <a:p>
            <a:r>
              <a:rPr lang="en-GB" sz="1200" dirty="0"/>
              <a:t>         If you get an error saying that you need SBRYSL1 access, then send an you must create an id on IRT or      </a:t>
            </a:r>
          </a:p>
          <a:p>
            <a:r>
              <a:rPr lang="en-GB" sz="1200" dirty="0"/>
              <a:t>         CLAS.</a:t>
            </a:r>
          </a:p>
          <a:p>
            <a:r>
              <a:rPr lang="en-GB" sz="1200" dirty="0"/>
              <a:t>         Instructions </a:t>
            </a:r>
            <a:r>
              <a:rPr lang="en-GB" sz="1200" dirty="0">
                <a:hlinkClick r:id="rId3"/>
              </a:rPr>
              <a:t>here</a:t>
            </a:r>
            <a:r>
              <a:rPr lang="en-GB" sz="1200" dirty="0"/>
              <a:t>.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5"/>
            </a:pPr>
            <a:r>
              <a:rPr lang="en-GB" sz="1200" dirty="0"/>
              <a:t>Once your MVS ID has been created, your manager will receive a temporary password.  Change the temporary  password immediately or your ID will be revoked, and you'll have to contact the IBM help desk, it will expire every 90 days. </a:t>
            </a:r>
            <a:r>
              <a:rPr lang="en-GB" sz="1200" b="1" dirty="0"/>
              <a:t>Make an entry on your calendar every 90 days to change the </a:t>
            </a:r>
            <a:r>
              <a:rPr lang="en-GB" sz="1200" b="1" dirty="0" err="1"/>
              <a:t>pswd</a:t>
            </a:r>
            <a:r>
              <a:rPr lang="en-GB" sz="1200" b="1" dirty="0"/>
              <a:t> as you will not get notified</a:t>
            </a:r>
            <a:r>
              <a:rPr lang="en-GB" sz="1200" dirty="0"/>
              <a:t>.</a:t>
            </a:r>
          </a:p>
          <a:p>
            <a:r>
              <a:rPr lang="en-GB" sz="1200" dirty="0"/>
              <a:t>                      MVS Change Password Information</a:t>
            </a:r>
          </a:p>
          <a:p>
            <a:r>
              <a:rPr lang="en-GB" sz="1200" dirty="0"/>
              <a:t>                     ** You must 24 hours before MVS ID appears in </a:t>
            </a:r>
            <a:r>
              <a:rPr lang="en-GB" sz="1200" dirty="0" err="1"/>
              <a:t>AccessHub</a:t>
            </a:r>
            <a:r>
              <a:rPr lang="en-GB" sz="1200" dirty="0"/>
              <a:t>. If not you will not see the option greyed </a:t>
            </a:r>
          </a:p>
          <a:p>
            <a:r>
              <a:rPr lang="en-GB" sz="1200" dirty="0"/>
              <a:t>                      out.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6"/>
            </a:pPr>
            <a:r>
              <a:rPr lang="en-GB" sz="1200" dirty="0"/>
              <a:t>With your MVSID id go back to </a:t>
            </a:r>
            <a:r>
              <a:rPr lang="en-GB" sz="1200" dirty="0" err="1"/>
              <a:t>AccessHub</a:t>
            </a:r>
            <a:r>
              <a:rPr lang="en-GB" sz="1200" dirty="0"/>
              <a:t> and choose </a:t>
            </a:r>
            <a:r>
              <a:rPr lang="en-GB" sz="1200" dirty="0" err="1"/>
              <a:t>WorldWide</a:t>
            </a:r>
            <a:r>
              <a:rPr lang="en-GB" sz="1200" dirty="0"/>
              <a:t> Load DB2 Query / Reporting Access(RACF).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6"/>
            </a:pPr>
            <a:r>
              <a:rPr lang="en-GB" sz="1200" dirty="0"/>
              <a:t>Click on “Request New Account”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6"/>
            </a:pPr>
            <a:r>
              <a:rPr lang="en-GB" sz="1200" dirty="0"/>
              <a:t>Under Actions, click on “Add to Cart”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6"/>
            </a:pPr>
            <a:r>
              <a:rPr lang="en-GB" sz="1200" dirty="0"/>
              <a:t>Select Account Name window will pop up, select your MVSID.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6"/>
            </a:pPr>
            <a:r>
              <a:rPr lang="en-GB" sz="1200" dirty="0"/>
              <a:t>Click on Checkout then click on Accept terms.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6"/>
            </a:pPr>
            <a:r>
              <a:rPr lang="en-GB" sz="1200" dirty="0"/>
              <a:t>Choose your role within the application: Blackout / No Blackout / Admin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6"/>
            </a:pPr>
            <a:r>
              <a:rPr lang="en-GB" sz="1200" dirty="0"/>
              <a:t>Under "Please choose appropriate access level: </a:t>
            </a:r>
            <a:r>
              <a:rPr lang="en-GB" sz="1200" b="1" dirty="0"/>
              <a:t>$WWLBAS2 </a:t>
            </a:r>
            <a:r>
              <a:rPr lang="en-GB" sz="1200" dirty="0"/>
              <a:t>for no Blackout or </a:t>
            </a:r>
          </a:p>
          <a:p>
            <a:r>
              <a:rPr lang="en-GB" sz="1200" dirty="0"/>
              <a:t>			                    </a:t>
            </a:r>
            <a:r>
              <a:rPr lang="en-GB" sz="1200" b="1" dirty="0"/>
              <a:t>$WWLSPC2 </a:t>
            </a:r>
            <a:r>
              <a:rPr lang="en-GB" sz="1200" dirty="0"/>
              <a:t>for Blackout" </a:t>
            </a:r>
          </a:p>
          <a:p>
            <a:r>
              <a:rPr lang="en-GB" sz="1200" dirty="0"/>
              <a:t>         Click on the </a:t>
            </a:r>
            <a:r>
              <a:rPr lang="en-GB" sz="1200" b="1" dirty="0"/>
              <a:t>+</a:t>
            </a:r>
            <a:r>
              <a:rPr lang="en-GB" sz="1200" dirty="0"/>
              <a:t> under Action.</a:t>
            </a:r>
            <a:endParaRPr lang="en-GB" sz="1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1323658-058D-5295-33E3-78BE2A5C0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470" y="823824"/>
            <a:ext cx="4058807" cy="156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62B943-4D33-BBBD-03F8-79F02438B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317" y="2470494"/>
            <a:ext cx="2894934" cy="2003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61ED0F-B13C-E5EE-A907-F621A92044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4969" y="4637303"/>
            <a:ext cx="2274265" cy="20035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596996-F268-7FA3-EEA6-B0F78989503E}"/>
              </a:ext>
            </a:extLst>
          </p:cNvPr>
          <p:cNvSpPr txBox="1"/>
          <p:nvPr/>
        </p:nvSpPr>
        <p:spPr>
          <a:xfrm>
            <a:off x="6883719" y="889642"/>
            <a:ext cx="4064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D0D563-87BE-0D32-5F55-624C02FE0578}"/>
              </a:ext>
            </a:extLst>
          </p:cNvPr>
          <p:cNvSpPr txBox="1"/>
          <p:nvPr/>
        </p:nvSpPr>
        <p:spPr>
          <a:xfrm>
            <a:off x="6799344" y="2535015"/>
            <a:ext cx="47354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10)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20357-FDB5-5354-192A-42AAF3F0F512}"/>
              </a:ext>
            </a:extLst>
          </p:cNvPr>
          <p:cNvSpPr txBox="1"/>
          <p:nvPr/>
        </p:nvSpPr>
        <p:spPr>
          <a:xfrm>
            <a:off x="6795560" y="4790650"/>
            <a:ext cx="46915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12)</a:t>
            </a:r>
          </a:p>
        </p:txBody>
      </p:sp>
    </p:spTree>
    <p:extLst>
      <p:ext uri="{BB962C8B-B14F-4D97-AF65-F5344CB8AC3E}">
        <p14:creationId xmlns:p14="http://schemas.microsoft.com/office/powerpoint/2010/main" val="124738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D03988-D5C0-3029-7F79-F1DB985E676F}"/>
              </a:ext>
            </a:extLst>
          </p:cNvPr>
          <p:cNvSpPr txBox="1"/>
          <p:nvPr/>
        </p:nvSpPr>
        <p:spPr>
          <a:xfrm>
            <a:off x="349598" y="412797"/>
            <a:ext cx="6121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DB2 Access step by step </a:t>
            </a:r>
            <a:r>
              <a:rPr lang="en-US" sz="1200" dirty="0"/>
              <a:t>- continue</a:t>
            </a:r>
            <a:endParaRPr lang="en-US" sz="16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84D950C-3750-893F-7CF0-0D8814D4935E}"/>
              </a:ext>
            </a:extLst>
          </p:cNvPr>
          <p:cNvSpPr/>
          <p:nvPr/>
        </p:nvSpPr>
        <p:spPr>
          <a:xfrm>
            <a:off x="349598" y="403689"/>
            <a:ext cx="11675757" cy="3693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8243A4-569F-988E-78D6-B8A6B5522EAA}"/>
              </a:ext>
            </a:extLst>
          </p:cNvPr>
          <p:cNvSpPr txBox="1"/>
          <p:nvPr/>
        </p:nvSpPr>
        <p:spPr>
          <a:xfrm>
            <a:off x="240030" y="889642"/>
            <a:ext cx="6542433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600"/>
              </a:spcBef>
              <a:buFont typeface="+mj-lt"/>
              <a:buAutoNum type="arabicParenR" startAt="13"/>
            </a:pPr>
            <a:r>
              <a:rPr lang="en-GB" sz="1400" dirty="0"/>
              <a:t>On the right click  "Add Privilege" choose USE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13"/>
            </a:pPr>
            <a:r>
              <a:rPr lang="en-GB" sz="1400" dirty="0"/>
              <a:t>Enter Business Justification and Submit.</a:t>
            </a:r>
          </a:p>
          <a:p>
            <a:pPr marL="228600" indent="-228600">
              <a:spcBef>
                <a:spcPts val="1200"/>
              </a:spcBef>
              <a:buFont typeface="+mj-lt"/>
              <a:buAutoNum type="arabicParenR" startAt="13"/>
            </a:pPr>
            <a:r>
              <a:rPr lang="en-GB" sz="1400" dirty="0"/>
              <a:t>Now enter a </a:t>
            </a:r>
            <a:r>
              <a:rPr lang="en-GB" sz="1400" b="1" dirty="0"/>
              <a:t>new </a:t>
            </a:r>
            <a:r>
              <a:rPr lang="en-GB" sz="1400" b="1" dirty="0" err="1"/>
              <a:t>AccessHub</a:t>
            </a:r>
            <a:r>
              <a:rPr lang="en-GB" sz="1400" b="1" dirty="0"/>
              <a:t> request</a:t>
            </a:r>
            <a:r>
              <a:rPr lang="en-GB" sz="1400" dirty="0"/>
              <a:t> to get access to the </a:t>
            </a:r>
            <a:r>
              <a:rPr lang="en-GB" sz="1400" b="1" dirty="0"/>
              <a:t>DB2 Tables for WW Load </a:t>
            </a:r>
            <a:r>
              <a:rPr lang="en-GB" sz="1400" dirty="0"/>
              <a:t>via </a:t>
            </a:r>
            <a:r>
              <a:rPr lang="en-GB" sz="1400" dirty="0" err="1"/>
              <a:t>AccessHub</a:t>
            </a:r>
            <a:r>
              <a:rPr lang="en-GB" sz="1400" dirty="0"/>
              <a:t>. Choose “Request New Access”.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13"/>
            </a:pPr>
            <a:r>
              <a:rPr lang="en-GB" sz="1400" dirty="0"/>
              <a:t>Search for </a:t>
            </a:r>
            <a:r>
              <a:rPr lang="en-GB" sz="1400" dirty="0" err="1"/>
              <a:t>wwload</a:t>
            </a:r>
            <a:r>
              <a:rPr lang="en-GB" sz="1400" dirty="0"/>
              <a:t> and choose </a:t>
            </a:r>
            <a:r>
              <a:rPr lang="en-GB" sz="1400" b="1" dirty="0" err="1"/>
              <a:t>WorldWide</a:t>
            </a:r>
            <a:r>
              <a:rPr lang="en-GB" sz="1400" b="1" dirty="0"/>
              <a:t> Load DB2 Query / Reporting Access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13"/>
            </a:pPr>
            <a:r>
              <a:rPr lang="en-GB" sz="1400" dirty="0"/>
              <a:t>Click Request New Account and select the “Dependant Account” MVS ID you created on SBRYSL1. (Takes 24 to 48 hours to show after approvals).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13"/>
            </a:pPr>
            <a:r>
              <a:rPr lang="en-GB" sz="1400" dirty="0"/>
              <a:t>Choose “I accept terms”.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13"/>
            </a:pPr>
            <a:r>
              <a:rPr lang="en-GB" sz="1400" dirty="0"/>
              <a:t>Choose Geography and select </a:t>
            </a:r>
            <a:r>
              <a:rPr lang="en-GB" sz="1400" b="1" dirty="0"/>
              <a:t>+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13"/>
            </a:pPr>
            <a:r>
              <a:rPr lang="en-GB" sz="1400" dirty="0"/>
              <a:t>Select Role: End User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13"/>
            </a:pPr>
            <a:r>
              <a:rPr lang="en-GB" sz="1400" dirty="0"/>
              <a:t>Select Blackout: Yes (must have approval) or No. Click Next.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13"/>
            </a:pPr>
            <a:r>
              <a:rPr lang="en-GB" sz="1400" dirty="0"/>
              <a:t>Enter a Business Reason under Comments.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13"/>
            </a:pPr>
            <a:r>
              <a:rPr lang="en-GB" sz="1400" dirty="0"/>
              <a:t>Click on “I confirm that I have reviewed this request..”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13"/>
            </a:pPr>
            <a:r>
              <a:rPr lang="en-GB" sz="1400" dirty="0"/>
              <a:t>Submit Request.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arenR" startAt="13"/>
            </a:pPr>
            <a:endParaRPr lang="en-GB" sz="1400" dirty="0"/>
          </a:p>
          <a:p>
            <a:pPr>
              <a:spcBef>
                <a:spcPts val="600"/>
              </a:spcBef>
            </a:pPr>
            <a:r>
              <a:rPr lang="en-GB" sz="1400" dirty="0"/>
              <a:t>** Access takes as fast as your manager and the application owner approve it.**</a:t>
            </a:r>
          </a:p>
          <a:p>
            <a:pPr marL="228600" indent="-228600">
              <a:buFont typeface="+mj-lt"/>
              <a:buAutoNum type="arabicParenR" startAt="13"/>
            </a:pPr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74C571-46D1-BAF7-A708-E5B19E7D2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153" y="889641"/>
            <a:ext cx="4736433" cy="263249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3C48EB6-A233-67D3-E4E8-FD1BC92D68C4}"/>
              </a:ext>
            </a:extLst>
          </p:cNvPr>
          <p:cNvSpPr txBox="1"/>
          <p:nvPr/>
        </p:nvSpPr>
        <p:spPr>
          <a:xfrm>
            <a:off x="6782463" y="957376"/>
            <a:ext cx="6562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18-19)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42A5100-4946-8E87-C56F-C9397888B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754" y="4026239"/>
            <a:ext cx="3494821" cy="212902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6D0109C-D630-101A-EEF9-D82CA3A8BCE3}"/>
              </a:ext>
            </a:extLst>
          </p:cNvPr>
          <p:cNvSpPr txBox="1"/>
          <p:nvPr/>
        </p:nvSpPr>
        <p:spPr>
          <a:xfrm>
            <a:off x="6875737" y="4026239"/>
            <a:ext cx="6562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20-21)</a:t>
            </a:r>
          </a:p>
        </p:txBody>
      </p:sp>
    </p:spTree>
    <p:extLst>
      <p:ext uri="{BB962C8B-B14F-4D97-AF65-F5344CB8AC3E}">
        <p14:creationId xmlns:p14="http://schemas.microsoft.com/office/powerpoint/2010/main" val="3837281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9450</TotalTime>
  <Words>753</Words>
  <Application>Microsoft Office PowerPoint</Application>
  <PresentationFormat>Widescreen</PresentationFormat>
  <Paragraphs>68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Magdalena Sabotova</dc:creator>
  <cp:lastModifiedBy>Magdalena Sabotova</cp:lastModifiedBy>
  <cp:revision>10</cp:revision>
  <dcterms:created xsi:type="dcterms:W3CDTF">2025-08-13T10:38:18Z</dcterms:created>
  <dcterms:modified xsi:type="dcterms:W3CDTF">2025-12-08T08:46:45Z</dcterms:modified>
</cp:coreProperties>
</file>