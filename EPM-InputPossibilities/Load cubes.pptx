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2FF"/>
    <a:srgbClr val="99CCFF"/>
    <a:srgbClr val="D5E3FF"/>
    <a:srgbClr val="6699FF"/>
    <a:srgbClr val="E5F2FF"/>
    <a:srgbClr val="BD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357CF-1859-4A43-8A0E-5DB44C048D7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7AA6D-C1BB-4A73-9DA0-3994D600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4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B2-A3E0-A9A7-F46A-F4090346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6BE-3AAC-940D-8685-B6FC2EC1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4D5F-390D-66A9-5B96-FD5A874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7E40-7C73-1F86-458A-5A0CD650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64B8-74FC-F61F-5F1E-9AE030C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D08-C78F-2F62-D70A-B3E5FA88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865-B32C-0114-42E6-A6D2742E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C7DC-EB15-AE6C-9E88-2D00A325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694-E17C-CD71-FF38-5A2F913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328E-386E-4B76-898F-97F93F65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443-CA0A-9A58-A478-0E195DE3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4C4D-DFAB-7115-D533-069AAE1F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654A-962D-0491-5439-A0E6B92E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B8CB-8CEF-844D-65E1-06F2437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5E90-22C1-3406-D0BB-78FF80F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C024-55BD-ADDA-DCCD-E0C1F6FA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0E3-0EC4-0FAA-8514-71280718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DB3C-ED2B-B03E-CF74-C5972AB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C189-4E21-04E5-F118-C6750F5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0B3D-EC83-3356-E9BC-4852A33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631F-C2E7-AFC5-2B40-62233595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FEB7-3F5A-BF95-7CE4-E5A4826D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3418-4E70-5462-4F42-60D081A0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3276-E661-56DD-73D3-AA64BC3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A9FEF-EC47-2950-2597-05E37319B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42384-C6D9-D565-FCF0-331ABD9E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44278-35E4-054C-4F71-E8EBF44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5AD21-55D0-A612-C020-8D7F5DFE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ADA33-D421-952A-28B2-65C2988D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2DF5-1E80-F0F6-6F0A-C63C01B0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C7DF-CEC6-D2F1-29B1-E6B2B585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5002A-A563-8666-009B-59580A13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A3E-F4F9-BB7E-C53E-71D420A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F920-3CF8-B86D-C64D-9AF01BEF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6243A-91A8-FD66-C2D3-AA9B022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6F61-BE43-D4BF-FC4C-ADFEE619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831A-E69D-C081-8471-C6C771D1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1C18-F926-586B-790B-D0DC1341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CFCE-8973-0161-9563-6F8588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2734-0974-A2B4-E771-619E2F88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A0DA-70DF-6B7A-F788-B97A6B06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13CC-96B1-B312-98F5-6B10AA5E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A9B6-F1DC-7F75-8622-62580F4E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1F823-09D9-1892-7F44-D1F2946F7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89C2-F408-C92E-12DB-1DC3366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5573-461C-E589-C165-D4542AE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B9FE-0B59-A603-186D-951CBB22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5162-9D92-A22B-BEAD-A2F6757B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81C-EB75-602F-CEEE-4904F6D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43F2C-B387-8071-32B8-85397018E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79E4-D544-572F-0CCB-CDC542BE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3B7-5775-B3B5-FABE-2B5479E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7AB1-E0FE-BFBB-2ED0-597EBE3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BD156-963C-5D38-DE60-9D49A815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794B2-0D31-3A73-9AFD-F874CA28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1EF7-11E1-747A-994D-88FB6C9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A07A-72B6-2CEC-4B2E-D868E4B4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C3F4-EE23-32B3-D130-ADE0BBD4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4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dhoc De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cover-wallpaper.jpg"/>
          <p:cNvPicPr>
            <a:picLocks noChangeAspect="1"/>
          </p:cNvPicPr>
          <p:nvPr userDrawn="1"/>
        </p:nvPicPr>
        <p:blipFill>
          <a:blip r:embed="rId2" cstate="print"/>
          <a:srcRect b="13901"/>
          <a:stretch>
            <a:fillRect/>
          </a:stretch>
        </p:blipFill>
        <p:spPr bwMode="auto">
          <a:xfrm>
            <a:off x="0" y="3276600"/>
            <a:ext cx="1219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 rot="10800000">
            <a:off x="0" y="3121470"/>
            <a:ext cx="12192000" cy="3812732"/>
          </a:xfrm>
          <a:prstGeom prst="rect">
            <a:avLst/>
          </a:prstGeom>
          <a:gradFill>
            <a:gsLst>
              <a:gs pos="34000">
                <a:srgbClr val="FFFFFF">
                  <a:alpha val="50000"/>
                </a:srgbClr>
              </a:gs>
              <a:gs pos="100000">
                <a:srgbClr val="FFFFFF"/>
              </a:gs>
              <a:gs pos="4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7" tIns="45719" rIns="91367" bIns="45719"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0" y="6651629"/>
            <a:ext cx="121920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black">
          <a:xfrm>
            <a:off x="4995338" y="6626426"/>
            <a:ext cx="2186517" cy="3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67" tIns="45719" rIns="91367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467" i="0" dirty="0">
                <a:solidFill>
                  <a:srgbClr val="FFFFFF"/>
                </a:solidFill>
                <a:latin typeface="IBM Plex Sans" panose="020B0503050203000203" pitchFamily="34" charset="0"/>
                <a:ea typeface="Calibri" charset="0"/>
                <a:cs typeface="Calibri" charset="0"/>
              </a:rPr>
              <a:t>IBM Confidential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93813" y="1773240"/>
            <a:ext cx="10363200" cy="2133600"/>
          </a:xfrm>
          <a:ln w="9525"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600" b="1">
                <a:solidFill>
                  <a:srgbClr val="002060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lvl="0"/>
            <a:r>
              <a:rPr lang="en-US" noProof="0" dirty="0"/>
              <a:t>Deck Title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4061970"/>
            <a:ext cx="8534400" cy="4572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>
                <a:solidFill>
                  <a:srgbClr val="777777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Date</a:t>
            </a:r>
          </a:p>
          <a:p>
            <a:pPr lvl="0"/>
            <a:endParaRPr lang="en-US" noProof="0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0" y="163193"/>
            <a:ext cx="110744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IBM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Infrastructure</a:t>
            </a:r>
          </a:p>
        </p:txBody>
      </p:sp>
      <p:pic>
        <p:nvPicPr>
          <p:cNvPr id="10" name="Picture 46" descr="blue-tri-color-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57013" y="172541"/>
            <a:ext cx="630239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7832-28FD-20E7-CF3C-E8D3CE99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6CF35-172B-00C8-1E16-3BC84E13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7002-5381-95AA-AE70-A131B07CC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04FBA-BDB5-4CD1-A230-C6E3A51930C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7E80-1209-5FAB-BF8B-840D63CDE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AED-1C73-F06B-7B1A-2BF437007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w3publisher/ww-load-end-user-communit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7" Type="http://schemas.openxmlformats.org/officeDocument/2006/relationships/package" Target="../embeddings/Microsoft_Excel_Worksheet2.xlsx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7A37-CE6C-483F-B7AD-14B735A85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09325" y="0"/>
            <a:ext cx="1082675" cy="188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7FAF-2D64-6B5A-FCFA-DDF2A2CE14B7}"/>
              </a:ext>
            </a:extLst>
          </p:cNvPr>
          <p:cNvSpPr txBox="1"/>
          <p:nvPr/>
        </p:nvSpPr>
        <p:spPr>
          <a:xfrm>
            <a:off x="558800" y="5909733"/>
            <a:ext cx="329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education series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11263-D16B-C2E8-7772-20E8AB0E401A}"/>
              </a:ext>
            </a:extLst>
          </p:cNvPr>
          <p:cNvSpPr txBox="1"/>
          <p:nvPr/>
        </p:nvSpPr>
        <p:spPr>
          <a:xfrm>
            <a:off x="1837267" y="2641600"/>
            <a:ext cx="8517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Load cubes</a:t>
            </a:r>
          </a:p>
          <a:p>
            <a:endParaRPr lang="en-AU" sz="4000" i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3E8D12C-94BC-D413-F6DF-199B2FF754B4}"/>
              </a:ext>
            </a:extLst>
          </p:cNvPr>
          <p:cNvSpPr txBox="1"/>
          <p:nvPr/>
        </p:nvSpPr>
        <p:spPr>
          <a:xfrm>
            <a:off x="211667" y="148908"/>
            <a:ext cx="395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</a:t>
            </a:r>
            <a:r>
              <a:rPr lang="en-US" b="1" u="sng" dirty="0"/>
              <a:t>Load cubes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D009B2-53D0-DF3E-D6DA-8A0C2F07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52126"/>
            <a:ext cx="640241" cy="629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0F6E5-D72B-795D-9721-E71F55BAC8CC}"/>
              </a:ext>
            </a:extLst>
          </p:cNvPr>
          <p:cNvSpPr txBox="1"/>
          <p:nvPr/>
        </p:nvSpPr>
        <p:spPr>
          <a:xfrm>
            <a:off x="877882" y="1670805"/>
            <a:ext cx="528059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WWLOAD – Planner cube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used for loading </a:t>
            </a:r>
            <a:r>
              <a:rPr lang="en-US" sz="1600" i="1" u="sng" dirty="0"/>
              <a:t>manual adjustments </a:t>
            </a:r>
            <a:r>
              <a:rPr lang="en-US" sz="1600" dirty="0"/>
              <a:t>(GTN, After market media, Price correction on family code level)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 u="sng" dirty="0"/>
              <a:t>order override </a:t>
            </a:r>
            <a:r>
              <a:rPr lang="en-US" sz="1600" dirty="0"/>
              <a:t>(price correction on order level),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 u="sng" dirty="0"/>
              <a:t>product discount override </a:t>
            </a:r>
            <a:r>
              <a:rPr lang="en-US" sz="1600" dirty="0"/>
              <a:t>(discount level correction on product ID/country level)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Requires special Planner access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Updated data are then copied to DB2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B8CED-9A0C-D289-8229-AEFFD410049F}"/>
              </a:ext>
            </a:extLst>
          </p:cNvPr>
          <p:cNvSpPr txBox="1"/>
          <p:nvPr/>
        </p:nvSpPr>
        <p:spPr>
          <a:xfrm>
            <a:off x="6389562" y="4182889"/>
            <a:ext cx="53065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TKS_TGTS </a:t>
            </a:r>
            <a:r>
              <a:rPr lang="en-US" dirty="0"/>
              <a:t>– </a:t>
            </a:r>
            <a:r>
              <a:rPr lang="en-US" b="1" dirty="0"/>
              <a:t>tracks cube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Used for loading/retrieving </a:t>
            </a:r>
            <a:r>
              <a:rPr lang="en-US" i="1" u="sng" dirty="0"/>
              <a:t>current quarter tracks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Brands: Z, power, storage.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Products: Power &amp; storage tracks are separately for High volume/High End products.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Case: Budget (Budget4Q25), Execution case (Tgt4Q25)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DEC55-FEBF-1729-9DCC-4A60FB5C663A}"/>
              </a:ext>
            </a:extLst>
          </p:cNvPr>
          <p:cNvSpPr txBox="1"/>
          <p:nvPr/>
        </p:nvSpPr>
        <p:spPr>
          <a:xfrm>
            <a:off x="851908" y="4150465"/>
            <a:ext cx="5306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STREAMCUBE – </a:t>
            </a:r>
            <a:r>
              <a:rPr lang="en-US" b="1" dirty="0" err="1"/>
              <a:t>NonHW</a:t>
            </a:r>
            <a:r>
              <a:rPr lang="en-US" b="1" dirty="0"/>
              <a:t> cube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u="sng" dirty="0"/>
              <a:t>Transactional SW </a:t>
            </a:r>
            <a:r>
              <a:rPr lang="en-US" dirty="0"/>
              <a:t>– full quarter estimate, separately for FIRM + To-Go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u="sng" dirty="0"/>
              <a:t>Annuity </a:t>
            </a:r>
            <a:r>
              <a:rPr lang="en-US" dirty="0"/>
              <a:t>– full quarter estimate (copied from Consol case </a:t>
            </a:r>
            <a:r>
              <a:rPr lang="en-US" dirty="0" err="1"/>
              <a:t>ASMTInput</a:t>
            </a:r>
            <a:r>
              <a:rPr lang="en-US" dirty="0"/>
              <a:t>/39971114)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u="sng" dirty="0"/>
              <a:t>Storage OEM </a:t>
            </a:r>
            <a:r>
              <a:rPr lang="en-US" dirty="0"/>
              <a:t>– full quarter estimate (copied from Consol case </a:t>
            </a:r>
            <a:r>
              <a:rPr lang="en-US" dirty="0" err="1"/>
              <a:t>ASMTInput</a:t>
            </a:r>
            <a:r>
              <a:rPr lang="en-US" dirty="0"/>
              <a:t>/3997Otop)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dirty="0"/>
              <a:t>Technology</a:t>
            </a:r>
            <a:r>
              <a:rPr lang="en-US" dirty="0"/>
              <a:t> (div 29)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3702A-D68D-4FFF-1F09-196416970E69}"/>
              </a:ext>
            </a:extLst>
          </p:cNvPr>
          <p:cNvSpPr txBox="1"/>
          <p:nvPr/>
        </p:nvSpPr>
        <p:spPr>
          <a:xfrm>
            <a:off x="6367491" y="1673158"/>
            <a:ext cx="53065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LOADTGTS – HW cube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 u="sng" dirty="0"/>
              <a:t>HW data </a:t>
            </a:r>
            <a:r>
              <a:rPr lang="en-US" dirty="0"/>
              <a:t>stored daily in Daily Load case (</a:t>
            </a:r>
            <a:r>
              <a:rPr lang="en-US" dirty="0" err="1"/>
              <a:t>ff.e</a:t>
            </a:r>
            <a:r>
              <a:rPr lang="en-US" dirty="0"/>
              <a:t>. LD111325)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Products: lowest level is product 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Source: Baseload (ORD_CUR table) / Allocation &amp;  Total Adjustments (MEAS table)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Geo: down to Market level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Period: Current quarter + Next quarter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1E2D2-2330-6F55-5F74-182C2AAB9297}"/>
              </a:ext>
            </a:extLst>
          </p:cNvPr>
          <p:cNvSpPr txBox="1"/>
          <p:nvPr/>
        </p:nvSpPr>
        <p:spPr>
          <a:xfrm>
            <a:off x="851908" y="536272"/>
            <a:ext cx="108442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One of many forms of reporting Load data is via Load cubes. There are 4 cubes used for WW Load. </a:t>
            </a:r>
          </a:p>
          <a:p>
            <a:r>
              <a:rPr lang="en-US" sz="1600" dirty="0"/>
              <a:t>All running on </a:t>
            </a:r>
            <a:r>
              <a:rPr lang="en-US" sz="1600" b="1" dirty="0"/>
              <a:t>Server: https://paprd-wdc1-apexpaw-01.limited-use.ibm.com </a:t>
            </a:r>
          </a:p>
          <a:p>
            <a:r>
              <a:rPr lang="en-US" sz="1600" dirty="0"/>
              <a:t>Needed Planning Analytics excel Addin. Instructions in w3publisher </a:t>
            </a:r>
            <a:r>
              <a:rPr lang="en-AU" sz="1600" i="1" u="sng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 Load Community</a:t>
            </a:r>
            <a:r>
              <a:rPr lang="en-AU" sz="1600" i="1" u="sng" dirty="0">
                <a:solidFill>
                  <a:srgbClr val="0000FF"/>
                </a:solidFill>
              </a:rPr>
              <a:t>.</a:t>
            </a:r>
            <a:endParaRPr lang="en-US" sz="1600" dirty="0"/>
          </a:p>
          <a:p>
            <a:r>
              <a:rPr lang="en-US" sz="1600" dirty="0"/>
              <a:t>PAX slack support: </a:t>
            </a:r>
            <a:r>
              <a:rPr lang="en-US" sz="1600" b="1" dirty="0"/>
              <a:t>https://ibm.enterprise.slack.com/archives/CHE988M7C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835A3-C152-1427-B02F-DB304E4EB7B5}"/>
              </a:ext>
            </a:extLst>
          </p:cNvPr>
          <p:cNvSpPr/>
          <p:nvPr/>
        </p:nvSpPr>
        <p:spPr>
          <a:xfrm>
            <a:off x="851908" y="1663435"/>
            <a:ext cx="5306568" cy="23222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793472-F6EB-4BAC-8822-BC20DB7EE22A}"/>
              </a:ext>
            </a:extLst>
          </p:cNvPr>
          <p:cNvSpPr/>
          <p:nvPr/>
        </p:nvSpPr>
        <p:spPr>
          <a:xfrm>
            <a:off x="6367491" y="1653706"/>
            <a:ext cx="5306568" cy="23222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9F527-FF88-4310-8103-1B2A8EDD426A}"/>
              </a:ext>
            </a:extLst>
          </p:cNvPr>
          <p:cNvSpPr/>
          <p:nvPr/>
        </p:nvSpPr>
        <p:spPr>
          <a:xfrm>
            <a:off x="855143" y="4153712"/>
            <a:ext cx="5306568" cy="23222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F26F5F-7A76-6A3F-8494-AC0E19FE435F}"/>
              </a:ext>
            </a:extLst>
          </p:cNvPr>
          <p:cNvSpPr/>
          <p:nvPr/>
        </p:nvSpPr>
        <p:spPr>
          <a:xfrm>
            <a:off x="6389562" y="4134258"/>
            <a:ext cx="5306568" cy="23222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8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7A2D-5AFA-D7FC-B4EF-AB77FF98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1904"/>
          </a:xfrm>
        </p:spPr>
        <p:txBody>
          <a:bodyPr/>
          <a:lstStyle/>
          <a:p>
            <a:r>
              <a:rPr lang="en-US" dirty="0"/>
              <a:t>Example of Load Report using Load cubes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452AEE-752D-426C-981F-6D9D26CD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87" y="1416617"/>
            <a:ext cx="10272650" cy="2568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966419-BE65-EB2D-3A43-3E408D57ADE3}"/>
              </a:ext>
            </a:extLst>
          </p:cNvPr>
          <p:cNvSpPr/>
          <p:nvPr/>
        </p:nvSpPr>
        <p:spPr>
          <a:xfrm>
            <a:off x="2694560" y="1680960"/>
            <a:ext cx="865761" cy="2369832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1D95FE-CD0C-11F5-EA51-9CDC3731CDAC}"/>
              </a:ext>
            </a:extLst>
          </p:cNvPr>
          <p:cNvSpPr/>
          <p:nvPr/>
        </p:nvSpPr>
        <p:spPr>
          <a:xfrm>
            <a:off x="5755531" y="1690688"/>
            <a:ext cx="1326204" cy="2369832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47628A-21E4-4ADA-4937-AC3EA8CFC165}"/>
              </a:ext>
            </a:extLst>
          </p:cNvPr>
          <p:cNvSpPr/>
          <p:nvPr/>
        </p:nvSpPr>
        <p:spPr>
          <a:xfrm>
            <a:off x="7201707" y="1690688"/>
            <a:ext cx="1757464" cy="2369832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066EC6-F292-9AB6-0CA8-2F8758803023}"/>
              </a:ext>
            </a:extLst>
          </p:cNvPr>
          <p:cNvSpPr txBox="1"/>
          <p:nvPr/>
        </p:nvSpPr>
        <p:spPr>
          <a:xfrm>
            <a:off x="2441643" y="4196739"/>
            <a:ext cx="7140101" cy="27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HW cube		                   From tracks cube                 From Non HW cube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2AD97B-29B8-41E5-8D0E-8E80BBF73F9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127441" y="4050792"/>
            <a:ext cx="0" cy="19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36651B-6F8B-6BBF-77BD-4EB81CEB6229}"/>
              </a:ext>
            </a:extLst>
          </p:cNvPr>
          <p:cNvCxnSpPr>
            <a:cxnSpLocks/>
          </p:cNvCxnSpPr>
          <p:nvPr/>
        </p:nvCxnSpPr>
        <p:spPr>
          <a:xfrm>
            <a:off x="6441340" y="4067003"/>
            <a:ext cx="0" cy="19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F7990B-CBA1-139F-68AC-F3EA51D46E41}"/>
              </a:ext>
            </a:extLst>
          </p:cNvPr>
          <p:cNvCxnSpPr>
            <a:cxnSpLocks/>
          </p:cNvCxnSpPr>
          <p:nvPr/>
        </p:nvCxnSpPr>
        <p:spPr>
          <a:xfrm>
            <a:off x="8043161" y="4054030"/>
            <a:ext cx="0" cy="204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98F498BA-E646-79AB-8520-4972FF4801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736768"/>
              </p:ext>
            </p:extLst>
          </p:nvPr>
        </p:nvGraphicFramePr>
        <p:xfrm>
          <a:off x="10844717" y="392914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642" imgH="792318" progId="Excel.Sheet.12">
                  <p:embed/>
                </p:oleObj>
              </mc:Choice>
              <mc:Fallback>
                <p:oleObj name="Worksheet" showAsIcon="1" r:id="rId3" imgW="914642" imgH="7923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44717" y="392914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rrow: Right 25">
            <a:extLst>
              <a:ext uri="{FF2B5EF4-FFF2-40B4-BE49-F238E27FC236}">
                <a16:creationId xmlns:a16="http://schemas.microsoft.com/office/drawing/2014/main" id="{0B457747-7EF3-06C7-4FDB-6CC776EEEF24}"/>
              </a:ext>
            </a:extLst>
          </p:cNvPr>
          <p:cNvSpPr/>
          <p:nvPr/>
        </p:nvSpPr>
        <p:spPr>
          <a:xfrm>
            <a:off x="10423198" y="4153199"/>
            <a:ext cx="317080" cy="324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2C74902A-563B-D72E-B071-52F7C2C10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608348"/>
              </p:ext>
            </p:extLst>
          </p:nvPr>
        </p:nvGraphicFramePr>
        <p:xfrm>
          <a:off x="3046044" y="5140238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642" imgH="792318" progId="Excel.Sheet.12">
                  <p:embed/>
                </p:oleObj>
              </mc:Choice>
              <mc:Fallback>
                <p:oleObj name="Worksheet" showAsIcon="1" r:id="rId5" imgW="914642" imgH="7923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6044" y="5140238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2AEAC47-9CFB-D2BC-3BE7-5A73B423F56C}"/>
              </a:ext>
            </a:extLst>
          </p:cNvPr>
          <p:cNvSpPr txBox="1"/>
          <p:nvPr/>
        </p:nvSpPr>
        <p:spPr>
          <a:xfrm>
            <a:off x="720789" y="4960071"/>
            <a:ext cx="2013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Product/order override template</a:t>
            </a:r>
          </a:p>
          <a:p>
            <a:r>
              <a:rPr lang="en-US" dirty="0"/>
              <a:t>in </a:t>
            </a:r>
            <a:r>
              <a:rPr lang="en-US" dirty="0" err="1"/>
              <a:t>wwload</a:t>
            </a:r>
            <a:r>
              <a:rPr lang="en-US" dirty="0"/>
              <a:t> cube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A9A260B-E9B8-6354-597A-DC4611CDC757}"/>
              </a:ext>
            </a:extLst>
          </p:cNvPr>
          <p:cNvSpPr/>
          <p:nvPr/>
        </p:nvSpPr>
        <p:spPr>
          <a:xfrm>
            <a:off x="2624515" y="5259434"/>
            <a:ext cx="317080" cy="324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09B19626-91A0-EB68-C18E-DE34041EC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462477"/>
              </p:ext>
            </p:extLst>
          </p:nvPr>
        </p:nvGraphicFramePr>
        <p:xfrm>
          <a:off x="7837937" y="514023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7" imgW="914642" imgH="792318" progId="Excel.Sheet.12">
                  <p:embed/>
                </p:oleObj>
              </mc:Choice>
              <mc:Fallback>
                <p:oleObj name="Worksheet" showAsIcon="1" r:id="rId7" imgW="914642" imgH="7923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37937" y="514023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FA2572E2-C744-8B8F-C3A8-16B8FDBC4F64}"/>
              </a:ext>
            </a:extLst>
          </p:cNvPr>
          <p:cNvSpPr/>
          <p:nvPr/>
        </p:nvSpPr>
        <p:spPr>
          <a:xfrm>
            <a:off x="7301296" y="5279081"/>
            <a:ext cx="317080" cy="324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30E416-3599-6E17-0368-92C1FC5A6D94}"/>
              </a:ext>
            </a:extLst>
          </p:cNvPr>
          <p:cNvSpPr txBox="1"/>
          <p:nvPr/>
        </p:nvSpPr>
        <p:spPr>
          <a:xfrm>
            <a:off x="5102169" y="5074653"/>
            <a:ext cx="2318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 adjustments template</a:t>
            </a:r>
          </a:p>
          <a:p>
            <a:r>
              <a:rPr lang="en-US" dirty="0"/>
              <a:t>in </a:t>
            </a:r>
            <a:r>
              <a:rPr lang="en-US" dirty="0" err="1"/>
              <a:t>wwload</a:t>
            </a:r>
            <a:r>
              <a:rPr lang="en-US" dirty="0"/>
              <a:t> cube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3EE80C0-5EE0-A9C4-54A6-185122CA0B53}"/>
              </a:ext>
            </a:extLst>
          </p:cNvPr>
          <p:cNvSpPr/>
          <p:nvPr/>
        </p:nvSpPr>
        <p:spPr>
          <a:xfrm>
            <a:off x="9786043" y="4162927"/>
            <a:ext cx="317080" cy="324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0A855F9-81ED-31EB-87E7-2A783A5C2C61}"/>
              </a:ext>
            </a:extLst>
          </p:cNvPr>
          <p:cNvSpPr/>
          <p:nvPr/>
        </p:nvSpPr>
        <p:spPr>
          <a:xfrm>
            <a:off x="9126859" y="4162927"/>
            <a:ext cx="317080" cy="324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95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28267</TotalTime>
  <Words>326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IBM Plex Sans</vt:lpstr>
      <vt:lpstr>Wingdings</vt:lpstr>
      <vt:lpstr>Office Theme</vt:lpstr>
      <vt:lpstr>Microsoft Excel Worksheet</vt:lpstr>
      <vt:lpstr>PowerPoint Presentation</vt:lpstr>
      <vt:lpstr>PowerPoint Presentation</vt:lpstr>
      <vt:lpstr>Example of Load Report using Load cubes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Sabotova</dc:creator>
  <cp:lastModifiedBy>Magdalena Sabotova</cp:lastModifiedBy>
  <cp:revision>28</cp:revision>
  <dcterms:created xsi:type="dcterms:W3CDTF">2025-08-13T10:38:18Z</dcterms:created>
  <dcterms:modified xsi:type="dcterms:W3CDTF">2025-11-14T20:21:27Z</dcterms:modified>
</cp:coreProperties>
</file>