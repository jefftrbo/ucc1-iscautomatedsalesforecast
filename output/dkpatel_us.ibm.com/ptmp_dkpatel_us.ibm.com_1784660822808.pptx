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6616" y="310896"/>
            <a:ext cx="3145536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6161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Patel HCLS 3Q26 Trans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16161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PTMP</a:t>
            </a:r>
            <a:endParaRPr lang="en-US" sz="24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593592" y="219456"/>
          <a:ext cx="7278624" cy="914400"/>
        </p:xfrm>
        <a:graphic>
          <a:graphicData uri="http://schemas.openxmlformats.org/drawingml/2006/table">
            <a:tbl>
              <a:tblPr/>
              <a:tblGrid>
                <a:gridCol w="1455725"/>
                <a:gridCol w="1455725"/>
                <a:gridCol w="1455725"/>
                <a:gridCol w="1455725"/>
                <a:gridCol w="1455725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3Q Budget</a:t>
                      </a:r>
                      <a:endParaRPr lang="en-US" sz="1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F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3Q Call</a:t>
                      </a:r>
                      <a:endParaRPr lang="en-US" sz="1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F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Gap</a:t>
                      </a:r>
                      <a:endParaRPr lang="en-US" sz="1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F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Upside</a:t>
                      </a:r>
                      <a:endParaRPr lang="en-US" sz="1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F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Stretch</a:t>
                      </a:r>
                      <a:endParaRPr lang="en-US" sz="1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F8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6161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$33.2M</a:t>
                      </a:r>
                      <a:endParaRPr lang="en-US" sz="1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6161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$146.2M</a:t>
                      </a:r>
                      <a:endParaRPr lang="en-US" sz="1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980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$0K</a:t>
                      </a:r>
                      <a:endParaRPr lang="en-US" sz="1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6161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$445.0M</a:t>
                      </a:r>
                      <a:endParaRPr lang="en-US" sz="1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6161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$491.0M</a:t>
                      </a:r>
                      <a:endParaRPr lang="en-US" sz="1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347472" y="1014984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16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Deals In Call &gt; $500K</a:t>
            </a:r>
            <a:endParaRPr lang="en-US" sz="1600" dirty="0"/>
          </a:p>
        </p:txBody>
      </p:sp>
      <p:graphicFrame>
        <p:nvGraphicFramePr>
          <p:cNvPr id="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47472" y="1325880"/>
          <a:ext cx="4800600" cy="914400"/>
        </p:xfrm>
        <a:graphic>
          <a:graphicData uri="http://schemas.openxmlformats.org/drawingml/2006/table">
            <a:tbl>
              <a:tblPr/>
              <a:tblGrid>
                <a:gridCol w="137160"/>
                <a:gridCol w="1344168"/>
                <a:gridCol w="2496312"/>
                <a:gridCol w="96012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6F6F6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•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6161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PFIZER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6161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PGS AMS Synergy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6161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$32.0M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6F6F6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•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6161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JOHNSON &amp; JOHNSON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6161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ERP Platform Managed Service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6161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$9.9M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6F6F6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•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6161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BLUE CROSS &amp; BLUE SH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6161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Corporate - z17 Machine Upgr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6161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$6.0M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6F6F6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•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6161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LABORATORY CORP OF A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6161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Labcorp - Agentic Control Pl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6161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$4.3M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6F6F6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•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6161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LABORATORY CORP OF A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6161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CA GEN to JAVA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6161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$4.0M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6F6F6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•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6161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ABBOTT LABORATORIES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6161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Abbott MedDev PODS Experienc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6161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$4.0M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6F6F6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•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6161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PFIZER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6161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PFG - RM - AS - AI for Priva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6161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$3.8M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6F6F6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•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6161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PFIZER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6161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DESCI-ServiceNow OTSM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6161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$3.5M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6F6F6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•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6161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LABORATORY CORP OF A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6161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Lab Corp - SMPO potential se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6161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$3.1M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411480" y="4197096"/>
            <a:ext cx="54772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16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 Plan</a:t>
            </a:r>
            <a:endParaRPr lang="en-US" sz="1100" dirty="0"/>
          </a:p>
        </p:txBody>
      </p:sp>
      <p:sp>
        <p:nvSpPr>
          <p:cNvPr id="7" name="Text 3"/>
          <p:cNvSpPr/>
          <p:nvPr/>
        </p:nvSpPr>
        <p:spPr>
          <a:xfrm>
            <a:off x="411480" y="4471416"/>
            <a:ext cx="5477256" cy="23957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100" dirty="0">
                <a:solidFill>
                  <a:srgbClr val="1616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jklafjlkasjfl;</a:t>
            </a:r>
            <a:endParaRPr lang="en-US" sz="1100" dirty="0"/>
          </a:p>
          <a:p>
            <a:r>
              <a:rPr lang="en-US" sz="1100" dirty="0">
                <a:solidFill>
                  <a:srgbClr val="1616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88888fo9ds88ufosduo9fuoa[</a:t>
            </a:r>
            <a:endParaRPr lang="en-US" sz="1100" dirty="0"/>
          </a:p>
          <a:p>
            <a:r>
              <a:rPr lang="en-US" sz="1100" dirty="0">
                <a:solidFill>
                  <a:srgbClr val="1616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nfasjflkjals;kfjl;akjf</a:t>
            </a:r>
            <a:endParaRPr lang="en-US" sz="1100" dirty="0"/>
          </a:p>
          <a:p>
            <a:r>
              <a:rPr lang="en-US" sz="1100" dirty="0">
                <a:solidFill>
                  <a:srgbClr val="1616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fjklasjflk;sajfl;a</a:t>
            </a:r>
            <a:endParaRPr lang="en-US" sz="1100" dirty="0"/>
          </a:p>
          <a:p>
            <a:r>
              <a:rPr lang="en-US" sz="1100" dirty="0">
                <a:solidFill>
                  <a:srgbClr val="1616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ns,fjalksfjl;kasj</a:t>
            </a:r>
            <a:endParaRPr lang="en-US" sz="1100" dirty="0"/>
          </a:p>
          <a:p>
            <a:r>
              <a:rPr lang="en-US" sz="1100" dirty="0">
                <a:solidFill>
                  <a:srgbClr val="1616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\jflk;asjflksjflkjasl;fjl;a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6391656" y="1362456"/>
            <a:ext cx="53858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16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Deals to close Gap of $0K</a:t>
            </a:r>
            <a:endParaRPr lang="en-US" sz="1600" dirty="0"/>
          </a:p>
        </p:txBody>
      </p:sp>
      <p:graphicFrame>
        <p:nvGraphicFramePr>
          <p:cNvPr id="4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91656" y="1673352"/>
          <a:ext cx="5385816" cy="914400"/>
        </p:xfrm>
        <a:graphic>
          <a:graphicData uri="http://schemas.openxmlformats.org/drawingml/2006/table">
            <a:tbl>
              <a:tblPr/>
              <a:tblGrid>
                <a:gridCol w="137160"/>
                <a:gridCol w="1508028"/>
                <a:gridCol w="2800624"/>
                <a:gridCol w="1077163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6F6F6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•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6161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PFIZER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6161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PGS Data, Analytics &amp; AI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6161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$45.0M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6F6F6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•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6161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ABBOTT LABORATORIES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6161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Abbott - CDS Application Rat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6161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$30.0M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6F6F6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•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6161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HORIZON BLUE CROSS B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6161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RFP-AI First - Horizon Contr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6161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$23.0M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6F6F6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•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6161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PFIZER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6161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SAP Digital Managed Service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6161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$20.0M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6F6F6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•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6161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PFIZER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6161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Pfizer - Client Zero - Accou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6161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$16.8M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 5"/>
          <p:cNvSpPr/>
          <p:nvPr/>
        </p:nvSpPr>
        <p:spPr>
          <a:xfrm>
            <a:off x="6391656" y="3511296"/>
            <a:ext cx="53858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16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Other Deals in Upside / Stretch &gt; $500K</a:t>
            </a:r>
            <a:endParaRPr lang="en-US" sz="1600" dirty="0"/>
          </a:p>
        </p:txBody>
      </p:sp>
      <p:graphicFrame>
        <p:nvGraphicFramePr>
          <p:cNvPr id="5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91656" y="3822192"/>
          <a:ext cx="5385816" cy="914400"/>
        </p:xfrm>
        <a:graphic>
          <a:graphicData uri="http://schemas.openxmlformats.org/drawingml/2006/table">
            <a:tbl>
              <a:tblPr/>
              <a:tblGrid>
                <a:gridCol w="137160"/>
                <a:gridCol w="1508028"/>
                <a:gridCol w="2800624"/>
                <a:gridCol w="1077163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6F6F6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•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6161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LABORATORY CORP OF A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6161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2026_Labcorp_sRenewal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6161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$12.6M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6F6F6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•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6161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ABBOTT LABORATORIES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6161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Abbott Commercial Managed Se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6161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$12.0M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6F6F6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•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6161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CAREFIRST / BLUE CRO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6161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2026-09-"Renewal"-SERVICE BE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6161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$10.8M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6F6F6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•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6161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JOHNSON &amp; JOHNSON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6161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Oracle Exit - Postgres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6161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$10.0M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6F6F6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•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6161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PFIZER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6161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SAP: Upgrade S/4HANA to 2025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6161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$10.0M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6F6F6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•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6161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PFIZER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6161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Pfizer - Procurement BPO Pha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6161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$10.0M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6F6F6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•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6161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HORIZON BLUE CROSS B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6161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Horizon - Salesforce Quote t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6161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$9.7M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6F6F6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•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6161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PFIZER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6161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TCS takeout - R&amp;D testing fa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6161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$9.0M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  <p:sp>
        <p:nvSpPr>
          <p:cNvPr id="12" name="Shape 6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13" name="Text 7"/>
          <p:cNvSpPr/>
          <p:nvPr/>
        </p:nvSpPr>
        <p:spPr>
          <a:xfrm>
            <a:off x="274320" y="6309360"/>
            <a:ext cx="1161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ISC Automated Sales Forecast  ·  Generated Jul 21, 2026  ·  v2.6.2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PTMP — Plan to Make Plan</dc:subject>
  <dc:creator>ISC Automated Sales Forecast</dc:creator>
  <cp:lastModifiedBy>ISC Automated Sales Forecast</cp:lastModifiedBy>
  <cp:revision>1</cp:revision>
  <dcterms:created xsi:type="dcterms:W3CDTF">2026-07-21T19:07:02Z</dcterms:created>
  <dcterms:modified xsi:type="dcterms:W3CDTF">2026-07-21T19:07:02Z</dcterms:modified>
</cp:coreProperties>
</file>